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8" r:id="rId3"/>
    <p:sldId id="257" r:id="rId4"/>
    <p:sldId id="259" r:id="rId5"/>
    <p:sldId id="260" r:id="rId6"/>
    <p:sldId id="276" r:id="rId7"/>
    <p:sldId id="263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92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5601F7-A4E0-4DDC-A864-4354E50843C3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73AD792-24D2-4AEF-BB91-B78F91BCA245}">
      <dgm:prSet/>
      <dgm:spPr/>
      <dgm:t>
        <a:bodyPr/>
        <a:lstStyle/>
        <a:p>
          <a:pPr algn="ctr">
            <a:lnSpc>
              <a:spcPct val="100000"/>
            </a:lnSpc>
            <a:defRPr b="1"/>
          </a:pPr>
          <a:r>
            <a:rPr lang="en-US" b="1" dirty="0"/>
            <a:t>What is Ethics?</a:t>
          </a:r>
          <a:endParaRPr lang="en-US" dirty="0"/>
        </a:p>
      </dgm:t>
    </dgm:pt>
    <dgm:pt modelId="{163650D6-BB5A-4265-8A02-F1739E100DAB}" type="parTrans" cxnId="{84945E7A-CCF4-4C88-9334-E22277B1350C}">
      <dgm:prSet/>
      <dgm:spPr/>
      <dgm:t>
        <a:bodyPr/>
        <a:lstStyle/>
        <a:p>
          <a:endParaRPr lang="en-US"/>
        </a:p>
      </dgm:t>
    </dgm:pt>
    <dgm:pt modelId="{3BF82074-0D4F-497A-835D-562BE37135E7}" type="sibTrans" cxnId="{84945E7A-CCF4-4C88-9334-E22277B1350C}">
      <dgm:prSet/>
      <dgm:spPr/>
      <dgm:t>
        <a:bodyPr/>
        <a:lstStyle/>
        <a:p>
          <a:endParaRPr lang="en-US"/>
        </a:p>
      </dgm:t>
    </dgm:pt>
    <dgm:pt modelId="{7C87D321-1856-4C93-818B-7AF92C6EC75B}">
      <dgm:prSet custT="1"/>
      <dgm:spPr/>
      <dgm:t>
        <a:bodyPr/>
        <a:lstStyle/>
        <a:p>
          <a:pPr marL="0" indent="0"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sz="2000" dirty="0"/>
            <a:t>-Set of principles distinguishing right from wrong</a:t>
          </a:r>
        </a:p>
      </dgm:t>
    </dgm:pt>
    <dgm:pt modelId="{39653197-FF9B-47FC-AF52-255F18B6506C}" type="parTrans" cxnId="{5CD32E2C-5827-4F8B-AAE7-5575FC414E68}">
      <dgm:prSet/>
      <dgm:spPr/>
      <dgm:t>
        <a:bodyPr/>
        <a:lstStyle/>
        <a:p>
          <a:endParaRPr lang="en-US"/>
        </a:p>
      </dgm:t>
    </dgm:pt>
    <dgm:pt modelId="{B007A256-76CE-4831-9D0D-38FA61DC4FFA}" type="sibTrans" cxnId="{5CD32E2C-5827-4F8B-AAE7-5575FC414E68}">
      <dgm:prSet/>
      <dgm:spPr/>
      <dgm:t>
        <a:bodyPr/>
        <a:lstStyle/>
        <a:p>
          <a:endParaRPr lang="en-US"/>
        </a:p>
      </dgm:t>
    </dgm:pt>
    <dgm:pt modelId="{2F5D516F-8ECE-4D52-A406-F50734ED66F5}">
      <dgm:prSet custT="1"/>
      <dgm:spPr/>
      <dgm:t>
        <a:bodyPr/>
        <a:lstStyle/>
        <a:p>
          <a:pPr marL="0"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sz="2000" dirty="0"/>
            <a:t>-Influenced by personal, moral, legal, and social standards</a:t>
          </a:r>
        </a:p>
      </dgm:t>
    </dgm:pt>
    <dgm:pt modelId="{A6469214-7D17-4441-8782-8572C718B146}" type="parTrans" cxnId="{F12BC88D-F040-44E7-A066-45A172C1E287}">
      <dgm:prSet/>
      <dgm:spPr/>
      <dgm:t>
        <a:bodyPr/>
        <a:lstStyle/>
        <a:p>
          <a:endParaRPr lang="en-US"/>
        </a:p>
      </dgm:t>
    </dgm:pt>
    <dgm:pt modelId="{341BC657-2DBC-459C-A7D5-34DAB42AAA4D}" type="sibTrans" cxnId="{F12BC88D-F040-44E7-A066-45A172C1E287}">
      <dgm:prSet/>
      <dgm:spPr/>
      <dgm:t>
        <a:bodyPr/>
        <a:lstStyle/>
        <a:p>
          <a:endParaRPr lang="en-US"/>
        </a:p>
      </dgm:t>
    </dgm:pt>
    <dgm:pt modelId="{ECEE7F03-81F7-46BE-A590-09C51A562EAA}">
      <dgm:prSet custT="1"/>
      <dgm:spPr/>
      <dgm:t>
        <a:bodyPr/>
        <a:lstStyle/>
        <a:p>
          <a:pPr marL="0"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sz="2000" dirty="0"/>
            <a:t>-Guides behavior and decision-making</a:t>
          </a:r>
        </a:p>
      </dgm:t>
    </dgm:pt>
    <dgm:pt modelId="{9B4493ED-0AE0-4442-81DD-5A69B69E13DF}" type="parTrans" cxnId="{D6C742E5-7B75-4660-8631-46EEAD4B0905}">
      <dgm:prSet/>
      <dgm:spPr/>
      <dgm:t>
        <a:bodyPr/>
        <a:lstStyle/>
        <a:p>
          <a:endParaRPr lang="en-US"/>
        </a:p>
      </dgm:t>
    </dgm:pt>
    <dgm:pt modelId="{FB11A614-FF4E-423E-A28E-F34F1CA83DDF}" type="sibTrans" cxnId="{D6C742E5-7B75-4660-8631-46EEAD4B0905}">
      <dgm:prSet/>
      <dgm:spPr/>
      <dgm:t>
        <a:bodyPr/>
        <a:lstStyle/>
        <a:p>
          <a:endParaRPr lang="en-US"/>
        </a:p>
      </dgm:t>
    </dgm:pt>
    <dgm:pt modelId="{BBCE9210-192D-4C33-BBF5-87EB5347CB4D}">
      <dgm:prSet custT="1"/>
      <dgm:spPr/>
      <dgm:t>
        <a:bodyPr/>
        <a:lstStyle/>
        <a:p>
          <a:pPr marL="0"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sz="2000" dirty="0"/>
            <a:t>-Promotes fairness, justice, and responsibility</a:t>
          </a:r>
        </a:p>
      </dgm:t>
    </dgm:pt>
    <dgm:pt modelId="{C264A82F-1554-46F0-8EE2-F66F27B974DD}" type="parTrans" cxnId="{28A4A598-D3B8-45BA-A739-517032B5EB75}">
      <dgm:prSet/>
      <dgm:spPr/>
      <dgm:t>
        <a:bodyPr/>
        <a:lstStyle/>
        <a:p>
          <a:endParaRPr lang="en-US"/>
        </a:p>
      </dgm:t>
    </dgm:pt>
    <dgm:pt modelId="{490FA8EB-41DE-4087-8F99-D88380E84270}" type="sibTrans" cxnId="{28A4A598-D3B8-45BA-A739-517032B5EB75}">
      <dgm:prSet/>
      <dgm:spPr/>
      <dgm:t>
        <a:bodyPr/>
        <a:lstStyle/>
        <a:p>
          <a:endParaRPr lang="en-US"/>
        </a:p>
      </dgm:t>
    </dgm:pt>
    <dgm:pt modelId="{64DB0037-9CA5-43D5-866C-8DF335F01143}">
      <dgm:prSet/>
      <dgm:spPr/>
      <dgm:t>
        <a:bodyPr/>
        <a:lstStyle/>
        <a:p>
          <a:pPr algn="ctr">
            <a:lnSpc>
              <a:spcPct val="100000"/>
            </a:lnSpc>
            <a:defRPr b="1"/>
          </a:pPr>
          <a:r>
            <a:rPr lang="en-US" b="1" dirty="0"/>
            <a:t>Key Aspects of Ethical Behavior</a:t>
          </a:r>
          <a:endParaRPr lang="en-US" dirty="0"/>
        </a:p>
      </dgm:t>
    </dgm:pt>
    <dgm:pt modelId="{925D5BDD-60FE-4502-8597-A377598F31EB}" type="parTrans" cxnId="{ABC76971-96D9-4636-B83A-FFB9CA3BBC58}">
      <dgm:prSet/>
      <dgm:spPr/>
      <dgm:t>
        <a:bodyPr/>
        <a:lstStyle/>
        <a:p>
          <a:endParaRPr lang="en-US"/>
        </a:p>
      </dgm:t>
    </dgm:pt>
    <dgm:pt modelId="{8A99495E-4035-41B8-9DBD-7E48EC545863}" type="sibTrans" cxnId="{ABC76971-96D9-4636-B83A-FFB9CA3BBC58}">
      <dgm:prSet/>
      <dgm:spPr/>
      <dgm:t>
        <a:bodyPr/>
        <a:lstStyle/>
        <a:p>
          <a:endParaRPr lang="en-US"/>
        </a:p>
      </dgm:t>
    </dgm:pt>
    <dgm:pt modelId="{CB3D1DA1-F035-44BE-AD50-FF6BF62E562B}">
      <dgm:prSet custT="1"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sz="2000" dirty="0"/>
            <a:t>-Do what benefits the greater good</a:t>
          </a:r>
        </a:p>
      </dgm:t>
    </dgm:pt>
    <dgm:pt modelId="{D60EFB30-39CD-42EE-9C12-F680F47FC6AE}" type="parTrans" cxnId="{CEF03527-2BBF-40D9-9413-390407864CF4}">
      <dgm:prSet/>
      <dgm:spPr/>
      <dgm:t>
        <a:bodyPr/>
        <a:lstStyle/>
        <a:p>
          <a:endParaRPr lang="en-US"/>
        </a:p>
      </dgm:t>
    </dgm:pt>
    <dgm:pt modelId="{6117B6FA-29C2-459C-B32F-DB4B5512D7DE}" type="sibTrans" cxnId="{CEF03527-2BBF-40D9-9413-390407864CF4}">
      <dgm:prSet/>
      <dgm:spPr/>
      <dgm:t>
        <a:bodyPr/>
        <a:lstStyle/>
        <a:p>
          <a:endParaRPr lang="en-US"/>
        </a:p>
      </dgm:t>
    </dgm:pt>
    <dgm:pt modelId="{4F14E144-AC0C-4C69-94D7-2D46C65D86C7}">
      <dgm:prSet custT="1"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sz="2000" dirty="0"/>
            <a:t>-Strive to help within given circumstances</a:t>
          </a:r>
        </a:p>
      </dgm:t>
    </dgm:pt>
    <dgm:pt modelId="{E80F0054-2AA5-4B49-B35F-A6788E41051D}" type="parTrans" cxnId="{23849FFF-93AA-42BD-9B69-6B86732DDF53}">
      <dgm:prSet/>
      <dgm:spPr/>
      <dgm:t>
        <a:bodyPr/>
        <a:lstStyle/>
        <a:p>
          <a:endParaRPr lang="en-US"/>
        </a:p>
      </dgm:t>
    </dgm:pt>
    <dgm:pt modelId="{AC578667-6D13-4913-B75C-7A5B1DF3A84A}" type="sibTrans" cxnId="{23849FFF-93AA-42BD-9B69-6B86732DDF53}">
      <dgm:prSet/>
      <dgm:spPr/>
      <dgm:t>
        <a:bodyPr/>
        <a:lstStyle/>
        <a:p>
          <a:endParaRPr lang="en-US"/>
        </a:p>
      </dgm:t>
    </dgm:pt>
    <dgm:pt modelId="{E7EA530F-15E5-41EA-8E96-CC0FEBF1316B}">
      <dgm:prSet custT="1"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sz="2000" dirty="0"/>
            <a:t>-Balance personal and societal values</a:t>
          </a:r>
        </a:p>
      </dgm:t>
    </dgm:pt>
    <dgm:pt modelId="{DE83532D-E8E6-4482-91CF-5BDDD7F764E5}" type="parTrans" cxnId="{7C5F3F54-4CB0-4F67-AFA4-35F12EF902D8}">
      <dgm:prSet/>
      <dgm:spPr/>
      <dgm:t>
        <a:bodyPr/>
        <a:lstStyle/>
        <a:p>
          <a:endParaRPr lang="en-US"/>
        </a:p>
      </dgm:t>
    </dgm:pt>
    <dgm:pt modelId="{D086C7FE-59BF-4D60-AA50-C844D7C0FC5E}" type="sibTrans" cxnId="{7C5F3F54-4CB0-4F67-AFA4-35F12EF902D8}">
      <dgm:prSet/>
      <dgm:spPr/>
      <dgm:t>
        <a:bodyPr/>
        <a:lstStyle/>
        <a:p>
          <a:endParaRPr lang="en-US"/>
        </a:p>
      </dgm:t>
    </dgm:pt>
    <dgm:pt modelId="{6B86052E-9948-4B81-8023-BCAE5E1A0667}">
      <dgm:prSet custT="1"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sz="2000" dirty="0"/>
            <a:t>-Recognize limitations but aim for fairness</a:t>
          </a:r>
        </a:p>
      </dgm:t>
    </dgm:pt>
    <dgm:pt modelId="{F5ADF897-74D8-44B9-8A3C-1EAEEE0D44BF}" type="parTrans" cxnId="{2333A758-EBFA-492E-B288-66F55C6BBDA1}">
      <dgm:prSet/>
      <dgm:spPr/>
      <dgm:t>
        <a:bodyPr/>
        <a:lstStyle/>
        <a:p>
          <a:endParaRPr lang="en-US"/>
        </a:p>
      </dgm:t>
    </dgm:pt>
    <dgm:pt modelId="{3894A06E-9214-4236-80DF-659A120D708D}" type="sibTrans" cxnId="{2333A758-EBFA-492E-B288-66F55C6BBDA1}">
      <dgm:prSet/>
      <dgm:spPr/>
      <dgm:t>
        <a:bodyPr/>
        <a:lstStyle/>
        <a:p>
          <a:endParaRPr lang="en-US"/>
        </a:p>
      </dgm:t>
    </dgm:pt>
    <dgm:pt modelId="{242B74F0-220E-4B99-ADBD-C71ADE6005BB}" type="pres">
      <dgm:prSet presAssocID="{A15601F7-A4E0-4DDC-A864-4354E50843C3}" presName="root" presStyleCnt="0">
        <dgm:presLayoutVars>
          <dgm:dir/>
          <dgm:resizeHandles val="exact"/>
        </dgm:presLayoutVars>
      </dgm:prSet>
      <dgm:spPr/>
    </dgm:pt>
    <dgm:pt modelId="{465BA992-A71F-4A4F-B0AC-E907F45A132F}" type="pres">
      <dgm:prSet presAssocID="{073AD792-24D2-4AEF-BB91-B78F91BCA245}" presName="compNode" presStyleCnt="0"/>
      <dgm:spPr/>
    </dgm:pt>
    <dgm:pt modelId="{BB6F1854-42CC-483B-A4E9-F7B93E0E2CB1}" type="pres">
      <dgm:prSet presAssocID="{073AD792-24D2-4AEF-BB91-B78F91BCA245}" presName="iconRect" presStyleLbl="node1" presStyleIdx="0" presStyleCnt="2" custLinFactNeighborX="75242" custLinFactNeighborY="-2257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71AF3ABB-69DC-4C46-A77B-E0C82E6E3DF1}" type="pres">
      <dgm:prSet presAssocID="{073AD792-24D2-4AEF-BB91-B78F91BCA245}" presName="iconSpace" presStyleCnt="0"/>
      <dgm:spPr/>
    </dgm:pt>
    <dgm:pt modelId="{906CCD76-15DA-47F7-9764-6A4EF8B37109}" type="pres">
      <dgm:prSet presAssocID="{073AD792-24D2-4AEF-BB91-B78F91BCA245}" presName="parTx" presStyleLbl="revTx" presStyleIdx="0" presStyleCnt="4" custLinFactNeighborY="-45548">
        <dgm:presLayoutVars>
          <dgm:chMax val="0"/>
          <dgm:chPref val="0"/>
        </dgm:presLayoutVars>
      </dgm:prSet>
      <dgm:spPr/>
    </dgm:pt>
    <dgm:pt modelId="{FA6374C2-E1B6-45CD-8A90-D530422D8F9B}" type="pres">
      <dgm:prSet presAssocID="{073AD792-24D2-4AEF-BB91-B78F91BCA245}" presName="txSpace" presStyleCnt="0"/>
      <dgm:spPr/>
    </dgm:pt>
    <dgm:pt modelId="{1DAB707C-B525-4748-B263-E5CAC3038AC9}" type="pres">
      <dgm:prSet presAssocID="{073AD792-24D2-4AEF-BB91-B78F91BCA245}" presName="desTx" presStyleLbl="revTx" presStyleIdx="1" presStyleCnt="4" custScaleX="112332" custLinFactNeighborX="-388" custLinFactNeighborY="-7819">
        <dgm:presLayoutVars/>
      </dgm:prSet>
      <dgm:spPr/>
    </dgm:pt>
    <dgm:pt modelId="{5BF9F497-735E-4756-BCBB-144789753307}" type="pres">
      <dgm:prSet presAssocID="{3BF82074-0D4F-497A-835D-562BE37135E7}" presName="sibTrans" presStyleCnt="0"/>
      <dgm:spPr/>
    </dgm:pt>
    <dgm:pt modelId="{5873825D-57D3-4BB1-A9F5-E05F9F8E2F04}" type="pres">
      <dgm:prSet presAssocID="{64DB0037-9CA5-43D5-866C-8DF335F01143}" presName="compNode" presStyleCnt="0"/>
      <dgm:spPr/>
    </dgm:pt>
    <dgm:pt modelId="{3CE27974-8BF6-434C-AF72-AEFBDA4828CC}" type="pres">
      <dgm:prSet presAssocID="{64DB0037-9CA5-43D5-866C-8DF335F01143}" presName="iconRect" presStyleLbl="node1" presStyleIdx="1" presStyleCnt="2" custLinFactNeighborX="84254" custLinFactNeighborY="-2650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90F84A26-180D-4E6B-BCA8-B9AEF588765E}" type="pres">
      <dgm:prSet presAssocID="{64DB0037-9CA5-43D5-866C-8DF335F01143}" presName="iconSpace" presStyleCnt="0"/>
      <dgm:spPr/>
    </dgm:pt>
    <dgm:pt modelId="{DBDFC043-C547-4BEC-8947-D8A05DFAA7A3}" type="pres">
      <dgm:prSet presAssocID="{64DB0037-9CA5-43D5-866C-8DF335F01143}" presName="parTx" presStyleLbl="revTx" presStyleIdx="2" presStyleCnt="4" custLinFactNeighborX="1227" custLinFactNeighborY="-53533">
        <dgm:presLayoutVars>
          <dgm:chMax val="0"/>
          <dgm:chPref val="0"/>
        </dgm:presLayoutVars>
      </dgm:prSet>
      <dgm:spPr/>
    </dgm:pt>
    <dgm:pt modelId="{605CEDF3-2142-4A12-8C73-4F3FA7DB534B}" type="pres">
      <dgm:prSet presAssocID="{64DB0037-9CA5-43D5-866C-8DF335F01143}" presName="txSpace" presStyleCnt="0"/>
      <dgm:spPr/>
    </dgm:pt>
    <dgm:pt modelId="{955FD968-4ACF-432A-9059-45510CF3AD95}" type="pres">
      <dgm:prSet presAssocID="{64DB0037-9CA5-43D5-866C-8DF335F01143}" presName="desTx" presStyleLbl="revTx" presStyleIdx="3" presStyleCnt="4" custLinFactNeighborX="-172" custLinFactNeighborY="-6460">
        <dgm:presLayoutVars/>
      </dgm:prSet>
      <dgm:spPr/>
    </dgm:pt>
  </dgm:ptLst>
  <dgm:cxnLst>
    <dgm:cxn modelId="{361BA10E-9F10-4CAB-B4E3-3911CC107369}" type="presOf" srcId="{E7EA530F-15E5-41EA-8E96-CC0FEBF1316B}" destId="{955FD968-4ACF-432A-9059-45510CF3AD95}" srcOrd="0" destOrd="2" presId="urn:microsoft.com/office/officeart/2018/2/layout/IconLabelDescriptionList"/>
    <dgm:cxn modelId="{CEF03527-2BBF-40D9-9413-390407864CF4}" srcId="{64DB0037-9CA5-43D5-866C-8DF335F01143}" destId="{CB3D1DA1-F035-44BE-AD50-FF6BF62E562B}" srcOrd="0" destOrd="0" parTransId="{D60EFB30-39CD-42EE-9C12-F680F47FC6AE}" sibTransId="{6117B6FA-29C2-459C-B32F-DB4B5512D7DE}"/>
    <dgm:cxn modelId="{7BAAF028-87CD-44D0-B020-1195D9ADA41C}" type="presOf" srcId="{073AD792-24D2-4AEF-BB91-B78F91BCA245}" destId="{906CCD76-15DA-47F7-9764-6A4EF8B37109}" srcOrd="0" destOrd="0" presId="urn:microsoft.com/office/officeart/2018/2/layout/IconLabelDescriptionList"/>
    <dgm:cxn modelId="{5CD32E2C-5827-4F8B-AAE7-5575FC414E68}" srcId="{073AD792-24D2-4AEF-BB91-B78F91BCA245}" destId="{7C87D321-1856-4C93-818B-7AF92C6EC75B}" srcOrd="0" destOrd="0" parTransId="{39653197-FF9B-47FC-AF52-255F18B6506C}" sibTransId="{B007A256-76CE-4831-9D0D-38FA61DC4FFA}"/>
    <dgm:cxn modelId="{DA02936B-CA8C-4D5A-BD42-4F6F71AC347B}" type="presOf" srcId="{7C87D321-1856-4C93-818B-7AF92C6EC75B}" destId="{1DAB707C-B525-4748-B263-E5CAC3038AC9}" srcOrd="0" destOrd="0" presId="urn:microsoft.com/office/officeart/2018/2/layout/IconLabelDescriptionList"/>
    <dgm:cxn modelId="{D93FC16D-1A26-4FBE-B765-D0882764BDAC}" type="presOf" srcId="{CB3D1DA1-F035-44BE-AD50-FF6BF62E562B}" destId="{955FD968-4ACF-432A-9059-45510CF3AD95}" srcOrd="0" destOrd="0" presId="urn:microsoft.com/office/officeart/2018/2/layout/IconLabelDescriptionList"/>
    <dgm:cxn modelId="{ABC76971-96D9-4636-B83A-FFB9CA3BBC58}" srcId="{A15601F7-A4E0-4DDC-A864-4354E50843C3}" destId="{64DB0037-9CA5-43D5-866C-8DF335F01143}" srcOrd="1" destOrd="0" parTransId="{925D5BDD-60FE-4502-8597-A377598F31EB}" sibTransId="{8A99495E-4035-41B8-9DBD-7E48EC545863}"/>
    <dgm:cxn modelId="{7C5F3F54-4CB0-4F67-AFA4-35F12EF902D8}" srcId="{64DB0037-9CA5-43D5-866C-8DF335F01143}" destId="{E7EA530F-15E5-41EA-8E96-CC0FEBF1316B}" srcOrd="2" destOrd="0" parTransId="{DE83532D-E8E6-4482-91CF-5BDDD7F764E5}" sibTransId="{D086C7FE-59BF-4D60-AA50-C844D7C0FC5E}"/>
    <dgm:cxn modelId="{A6621B75-7023-421B-B648-C04D49FEEF85}" type="presOf" srcId="{2F5D516F-8ECE-4D52-A406-F50734ED66F5}" destId="{1DAB707C-B525-4748-B263-E5CAC3038AC9}" srcOrd="0" destOrd="1" presId="urn:microsoft.com/office/officeart/2018/2/layout/IconLabelDescriptionList"/>
    <dgm:cxn modelId="{2333A758-EBFA-492E-B288-66F55C6BBDA1}" srcId="{64DB0037-9CA5-43D5-866C-8DF335F01143}" destId="{6B86052E-9948-4B81-8023-BCAE5E1A0667}" srcOrd="3" destOrd="0" parTransId="{F5ADF897-74D8-44B9-8A3C-1EAEEE0D44BF}" sibTransId="{3894A06E-9214-4236-80DF-659A120D708D}"/>
    <dgm:cxn modelId="{84945E7A-CCF4-4C88-9334-E22277B1350C}" srcId="{A15601F7-A4E0-4DDC-A864-4354E50843C3}" destId="{073AD792-24D2-4AEF-BB91-B78F91BCA245}" srcOrd="0" destOrd="0" parTransId="{163650D6-BB5A-4265-8A02-F1739E100DAB}" sibTransId="{3BF82074-0D4F-497A-835D-562BE37135E7}"/>
    <dgm:cxn modelId="{F12BC88D-F040-44E7-A066-45A172C1E287}" srcId="{073AD792-24D2-4AEF-BB91-B78F91BCA245}" destId="{2F5D516F-8ECE-4D52-A406-F50734ED66F5}" srcOrd="1" destOrd="0" parTransId="{A6469214-7D17-4441-8782-8572C718B146}" sibTransId="{341BC657-2DBC-459C-A7D5-34DAB42AAA4D}"/>
    <dgm:cxn modelId="{758E9290-C680-4EFD-A297-795E16098723}" type="presOf" srcId="{A15601F7-A4E0-4DDC-A864-4354E50843C3}" destId="{242B74F0-220E-4B99-ADBD-C71ADE6005BB}" srcOrd="0" destOrd="0" presId="urn:microsoft.com/office/officeart/2018/2/layout/IconLabelDescriptionList"/>
    <dgm:cxn modelId="{4EEBB597-F83D-4C98-9A7E-4565E9894B88}" type="presOf" srcId="{BBCE9210-192D-4C33-BBF5-87EB5347CB4D}" destId="{1DAB707C-B525-4748-B263-E5CAC3038AC9}" srcOrd="0" destOrd="3" presId="urn:microsoft.com/office/officeart/2018/2/layout/IconLabelDescriptionList"/>
    <dgm:cxn modelId="{28A4A598-D3B8-45BA-A739-517032B5EB75}" srcId="{073AD792-24D2-4AEF-BB91-B78F91BCA245}" destId="{BBCE9210-192D-4C33-BBF5-87EB5347CB4D}" srcOrd="3" destOrd="0" parTransId="{C264A82F-1554-46F0-8EE2-F66F27B974DD}" sibTransId="{490FA8EB-41DE-4087-8F99-D88380E84270}"/>
    <dgm:cxn modelId="{438BF9A4-25C2-4DD6-A486-6C9CDCBF0E41}" type="presOf" srcId="{4F14E144-AC0C-4C69-94D7-2D46C65D86C7}" destId="{955FD968-4ACF-432A-9059-45510CF3AD95}" srcOrd="0" destOrd="1" presId="urn:microsoft.com/office/officeart/2018/2/layout/IconLabelDescriptionList"/>
    <dgm:cxn modelId="{E41651CB-9D75-4BC9-A9C1-7146A3C87CFF}" type="presOf" srcId="{6B86052E-9948-4B81-8023-BCAE5E1A0667}" destId="{955FD968-4ACF-432A-9059-45510CF3AD95}" srcOrd="0" destOrd="3" presId="urn:microsoft.com/office/officeart/2018/2/layout/IconLabelDescriptionList"/>
    <dgm:cxn modelId="{6AD8F6D5-5EA3-4DD2-A070-868904162220}" type="presOf" srcId="{ECEE7F03-81F7-46BE-A590-09C51A562EAA}" destId="{1DAB707C-B525-4748-B263-E5CAC3038AC9}" srcOrd="0" destOrd="2" presId="urn:microsoft.com/office/officeart/2018/2/layout/IconLabelDescriptionList"/>
    <dgm:cxn modelId="{D6C742E5-7B75-4660-8631-46EEAD4B0905}" srcId="{073AD792-24D2-4AEF-BB91-B78F91BCA245}" destId="{ECEE7F03-81F7-46BE-A590-09C51A562EAA}" srcOrd="2" destOrd="0" parTransId="{9B4493ED-0AE0-4442-81DD-5A69B69E13DF}" sibTransId="{FB11A614-FF4E-423E-A28E-F34F1CA83DDF}"/>
    <dgm:cxn modelId="{3D9DA0EF-F93D-4B99-9F8E-DFFE34DD955E}" type="presOf" srcId="{64DB0037-9CA5-43D5-866C-8DF335F01143}" destId="{DBDFC043-C547-4BEC-8947-D8A05DFAA7A3}" srcOrd="0" destOrd="0" presId="urn:microsoft.com/office/officeart/2018/2/layout/IconLabelDescriptionList"/>
    <dgm:cxn modelId="{23849FFF-93AA-42BD-9B69-6B86732DDF53}" srcId="{64DB0037-9CA5-43D5-866C-8DF335F01143}" destId="{4F14E144-AC0C-4C69-94D7-2D46C65D86C7}" srcOrd="1" destOrd="0" parTransId="{E80F0054-2AA5-4B49-B35F-A6788E41051D}" sibTransId="{AC578667-6D13-4913-B75C-7A5B1DF3A84A}"/>
    <dgm:cxn modelId="{5A6D5D7A-5D98-437F-A506-56BDE0676CBD}" type="presParOf" srcId="{242B74F0-220E-4B99-ADBD-C71ADE6005BB}" destId="{465BA992-A71F-4A4F-B0AC-E907F45A132F}" srcOrd="0" destOrd="0" presId="urn:microsoft.com/office/officeart/2018/2/layout/IconLabelDescriptionList"/>
    <dgm:cxn modelId="{87674B7E-4D31-4FB6-9338-165F9791D8F5}" type="presParOf" srcId="{465BA992-A71F-4A4F-B0AC-E907F45A132F}" destId="{BB6F1854-42CC-483B-A4E9-F7B93E0E2CB1}" srcOrd="0" destOrd="0" presId="urn:microsoft.com/office/officeart/2018/2/layout/IconLabelDescriptionList"/>
    <dgm:cxn modelId="{928F1731-E257-4006-908A-1CBDC7FD55A9}" type="presParOf" srcId="{465BA992-A71F-4A4F-B0AC-E907F45A132F}" destId="{71AF3ABB-69DC-4C46-A77B-E0C82E6E3DF1}" srcOrd="1" destOrd="0" presId="urn:microsoft.com/office/officeart/2018/2/layout/IconLabelDescriptionList"/>
    <dgm:cxn modelId="{8C56BAAE-7D7E-458F-85AF-5DAE70E0C2BF}" type="presParOf" srcId="{465BA992-A71F-4A4F-B0AC-E907F45A132F}" destId="{906CCD76-15DA-47F7-9764-6A4EF8B37109}" srcOrd="2" destOrd="0" presId="urn:microsoft.com/office/officeart/2018/2/layout/IconLabelDescriptionList"/>
    <dgm:cxn modelId="{C8FE566F-B12F-4D74-B149-6D5E1606AE65}" type="presParOf" srcId="{465BA992-A71F-4A4F-B0AC-E907F45A132F}" destId="{FA6374C2-E1B6-45CD-8A90-D530422D8F9B}" srcOrd="3" destOrd="0" presId="urn:microsoft.com/office/officeart/2018/2/layout/IconLabelDescriptionList"/>
    <dgm:cxn modelId="{A61FAEE1-481C-4954-90BA-5CA3FE6F2E79}" type="presParOf" srcId="{465BA992-A71F-4A4F-B0AC-E907F45A132F}" destId="{1DAB707C-B525-4748-B263-E5CAC3038AC9}" srcOrd="4" destOrd="0" presId="urn:microsoft.com/office/officeart/2018/2/layout/IconLabelDescriptionList"/>
    <dgm:cxn modelId="{C858FBCB-0283-4951-BCA0-ADC3E7E12CCB}" type="presParOf" srcId="{242B74F0-220E-4B99-ADBD-C71ADE6005BB}" destId="{5BF9F497-735E-4756-BCBB-144789753307}" srcOrd="1" destOrd="0" presId="urn:microsoft.com/office/officeart/2018/2/layout/IconLabelDescriptionList"/>
    <dgm:cxn modelId="{F5091DEA-95B7-4EFD-B630-0FD341DFB73A}" type="presParOf" srcId="{242B74F0-220E-4B99-ADBD-C71ADE6005BB}" destId="{5873825D-57D3-4BB1-A9F5-E05F9F8E2F04}" srcOrd="2" destOrd="0" presId="urn:microsoft.com/office/officeart/2018/2/layout/IconLabelDescriptionList"/>
    <dgm:cxn modelId="{96ABFB18-0429-45E6-BA06-734B7EC5F4BE}" type="presParOf" srcId="{5873825D-57D3-4BB1-A9F5-E05F9F8E2F04}" destId="{3CE27974-8BF6-434C-AF72-AEFBDA4828CC}" srcOrd="0" destOrd="0" presId="urn:microsoft.com/office/officeart/2018/2/layout/IconLabelDescriptionList"/>
    <dgm:cxn modelId="{FAC5A18D-7F8A-4CBF-84FA-1C7A345FD86C}" type="presParOf" srcId="{5873825D-57D3-4BB1-A9F5-E05F9F8E2F04}" destId="{90F84A26-180D-4E6B-BCA8-B9AEF588765E}" srcOrd="1" destOrd="0" presId="urn:microsoft.com/office/officeart/2018/2/layout/IconLabelDescriptionList"/>
    <dgm:cxn modelId="{1637A510-510F-4F31-A590-1E3443254D70}" type="presParOf" srcId="{5873825D-57D3-4BB1-A9F5-E05F9F8E2F04}" destId="{DBDFC043-C547-4BEC-8947-D8A05DFAA7A3}" srcOrd="2" destOrd="0" presId="urn:microsoft.com/office/officeart/2018/2/layout/IconLabelDescriptionList"/>
    <dgm:cxn modelId="{DB166A3B-E7E8-4407-8313-B7BD901538EE}" type="presParOf" srcId="{5873825D-57D3-4BB1-A9F5-E05F9F8E2F04}" destId="{605CEDF3-2142-4A12-8C73-4F3FA7DB534B}" srcOrd="3" destOrd="0" presId="urn:microsoft.com/office/officeart/2018/2/layout/IconLabelDescriptionList"/>
    <dgm:cxn modelId="{DC1D1AF0-42AB-4C1C-A6F7-DA665D61091F}" type="presParOf" srcId="{5873825D-57D3-4BB1-A9F5-E05F9F8E2F04}" destId="{955FD968-4ACF-432A-9059-45510CF3AD95}" srcOrd="4" destOrd="0" presId="urn:microsoft.com/office/officeart/2018/2/layout/IconLabelDescription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6F1854-42CC-483B-A4E9-F7B93E0E2CB1}">
      <dsp:nvSpPr>
        <dsp:cNvPr id="0" name=""/>
        <dsp:cNvSpPr/>
      </dsp:nvSpPr>
      <dsp:spPr>
        <a:xfrm>
          <a:off x="1513123" y="0"/>
          <a:ext cx="1510523" cy="15105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6CCD76-15DA-47F7-9764-6A4EF8B37109}">
      <dsp:nvSpPr>
        <dsp:cNvPr id="0" name=""/>
        <dsp:cNvSpPr/>
      </dsp:nvSpPr>
      <dsp:spPr>
        <a:xfrm>
          <a:off x="376575" y="1483698"/>
          <a:ext cx="4315781" cy="647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b="1" kern="1200" dirty="0"/>
            <a:t>What is Ethics?</a:t>
          </a:r>
          <a:endParaRPr lang="en-US" sz="2300" kern="1200" dirty="0"/>
        </a:p>
      </dsp:txBody>
      <dsp:txXfrm>
        <a:off x="376575" y="1483698"/>
        <a:ext cx="4315781" cy="647367"/>
      </dsp:txXfrm>
    </dsp:sp>
    <dsp:sp modelId="{1DAB707C-B525-4748-B263-E5CAC3038AC9}">
      <dsp:nvSpPr>
        <dsp:cNvPr id="0" name=""/>
        <dsp:cNvSpPr/>
      </dsp:nvSpPr>
      <dsp:spPr>
        <a:xfrm>
          <a:off x="93719" y="2351732"/>
          <a:ext cx="4848003" cy="2116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dirty="0"/>
            <a:t>-Set of principles distinguishing right from wrong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dirty="0"/>
            <a:t>-Influenced by personal, moral, legal, and social standards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dirty="0"/>
            <a:t>-Guides behavior and decision-making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dirty="0"/>
            <a:t>-Promotes fairness, justice, and responsibility</a:t>
          </a:r>
        </a:p>
      </dsp:txBody>
      <dsp:txXfrm>
        <a:off x="93719" y="2351732"/>
        <a:ext cx="4848003" cy="2116276"/>
      </dsp:txXfrm>
    </dsp:sp>
    <dsp:sp modelId="{3CE27974-8BF6-434C-AF72-AEFBDA4828CC}">
      <dsp:nvSpPr>
        <dsp:cNvPr id="0" name=""/>
        <dsp:cNvSpPr/>
      </dsp:nvSpPr>
      <dsp:spPr>
        <a:xfrm>
          <a:off x="6986405" y="31765"/>
          <a:ext cx="1510523" cy="15105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DFC043-C547-4BEC-8947-D8A05DFAA7A3}">
      <dsp:nvSpPr>
        <dsp:cNvPr id="0" name=""/>
        <dsp:cNvSpPr/>
      </dsp:nvSpPr>
      <dsp:spPr>
        <a:xfrm>
          <a:off x="5766684" y="1432005"/>
          <a:ext cx="4315781" cy="647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b="1" kern="1200" dirty="0"/>
            <a:t>Key Aspects of Ethical Behavior</a:t>
          </a:r>
          <a:endParaRPr lang="en-US" sz="2300" kern="1200" dirty="0"/>
        </a:p>
      </dsp:txBody>
      <dsp:txXfrm>
        <a:off x="5766684" y="1432005"/>
        <a:ext cx="4315781" cy="647367"/>
      </dsp:txXfrm>
    </dsp:sp>
    <dsp:sp modelId="{955FD968-4ACF-432A-9059-45510CF3AD95}">
      <dsp:nvSpPr>
        <dsp:cNvPr id="0" name=""/>
        <dsp:cNvSpPr/>
      </dsp:nvSpPr>
      <dsp:spPr>
        <a:xfrm>
          <a:off x="5706306" y="2380492"/>
          <a:ext cx="4315781" cy="2116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dirty="0"/>
            <a:t>-Do what benefits the greater good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-Strive to help within given circumstances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-Balance personal and societal values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-Recognize limitations but aim for fairness</a:t>
          </a:r>
        </a:p>
      </dsp:txBody>
      <dsp:txXfrm>
        <a:off x="5706306" y="2380492"/>
        <a:ext cx="4315781" cy="21162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5AE16-A716-43BA-8BDF-ABE1AD614CEC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360E7-ECA6-4067-AF02-3DF37ADC0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054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5AE16-A716-43BA-8BDF-ABE1AD614CEC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360E7-ECA6-4067-AF02-3DF37ADC0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067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5AE16-A716-43BA-8BDF-ABE1AD614CEC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360E7-ECA6-4067-AF02-3DF37ADC0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25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5AE16-A716-43BA-8BDF-ABE1AD614CEC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360E7-ECA6-4067-AF02-3DF37ADC0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404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5AE16-A716-43BA-8BDF-ABE1AD614CEC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360E7-ECA6-4067-AF02-3DF37ADC0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860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5AE16-A716-43BA-8BDF-ABE1AD614CEC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360E7-ECA6-4067-AF02-3DF37ADC0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205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5AE16-A716-43BA-8BDF-ABE1AD614CEC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360E7-ECA6-4067-AF02-3DF37ADC0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050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5AE16-A716-43BA-8BDF-ABE1AD614CEC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360E7-ECA6-4067-AF02-3DF37ADC0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887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360E7-ECA6-4067-AF02-3DF37ADC0746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5AE16-A716-43BA-8BDF-ABE1AD614CEC}" type="datetimeFigureOut">
              <a:rPr lang="en-US" smtClean="0"/>
              <a:t>8/1/2025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90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5AE16-A716-43BA-8BDF-ABE1AD614CEC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360E7-ECA6-4067-AF02-3DF37ADC0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173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5AE16-A716-43BA-8BDF-ABE1AD614CEC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360E7-ECA6-4067-AF02-3DF37ADC0746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953189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5AE16-A716-43BA-8BDF-ABE1AD614CEC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360E7-ECA6-4067-AF02-3DF37ADC0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7421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5AE16-A716-43BA-8BDF-ABE1AD614CEC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360E7-ECA6-4067-AF02-3DF37ADC0746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956591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5AE16-A716-43BA-8BDF-ABE1AD614CEC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360E7-ECA6-4067-AF02-3DF37ADC0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7090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5AE16-A716-43BA-8BDF-ABE1AD614CEC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360E7-ECA6-4067-AF02-3DF37ADC0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0051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5AE16-A716-43BA-8BDF-ABE1AD614CEC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360E7-ECA6-4067-AF02-3DF37ADC0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133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05AE16-A716-43BA-8BDF-ABE1AD614CEC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BC360E7-ECA6-4067-AF02-3DF37ADC0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353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E6F48-5C90-BB29-0DC3-4714D44FB8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8380" y="284356"/>
            <a:ext cx="9144000" cy="1520476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accent2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FAST National University of Computer and Emerging Sciences, Islamabad</a:t>
            </a:r>
            <a:endParaRPr lang="en-US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90DC80-F400-3A51-9465-12EA98011B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2195" y="4571979"/>
            <a:ext cx="9144000" cy="1655762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Civics and Community Engagement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by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Ms. Tayyaba Waseem</a:t>
            </a:r>
            <a:endParaRPr lang="en-US" sz="2400" dirty="0"/>
          </a:p>
        </p:txBody>
      </p:sp>
      <p:pic>
        <p:nvPicPr>
          <p:cNvPr id="4" name="Picture 3" descr="A blue circle with black text&#10;&#10;Description automatically generated">
            <a:extLst>
              <a:ext uri="{FF2B5EF4-FFF2-40B4-BE49-F238E27FC236}">
                <a16:creationId xmlns:a16="http://schemas.microsoft.com/office/drawing/2014/main" id="{B3588BED-78D8-311C-9FD1-43731B0F0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4988" y="2174294"/>
            <a:ext cx="2078414" cy="207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517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vintage weighing scales">
            <a:extLst>
              <a:ext uri="{FF2B5EF4-FFF2-40B4-BE49-F238E27FC236}">
                <a16:creationId xmlns:a16="http://schemas.microsoft.com/office/drawing/2014/main" id="{DF60EE35-3152-2300-33B5-8DC0D1937B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790" r="-2" b="33497"/>
          <a:stretch/>
        </p:blipFill>
        <p:spPr>
          <a:xfrm>
            <a:off x="4528456" y="104143"/>
            <a:ext cx="7638752" cy="6612674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D54CA-F460-6424-83C3-400F388EB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547" y="2729150"/>
            <a:ext cx="8003025" cy="952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libri" panose="020F0502020204030204" pitchFamily="34" charset="0"/>
              </a:rPr>
              <a:t>Ethics &amp; Civic Responsibility</a:t>
            </a:r>
          </a:p>
          <a:p>
            <a:endParaRPr lang="en-US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393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>
            <a:extLst>
              <a:ext uri="{FF2B5EF4-FFF2-40B4-BE49-F238E27FC236}">
                <a16:creationId xmlns:a16="http://schemas.microsoft.com/office/drawing/2014/main" id="{6CE6E43D-FC44-4F15-89C6-7C08E9BDC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21115E6-3640-4179-A252-686A27B75B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68D2ABE-CDFA-4BEB-AF45-E43862265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Rectangle 23">
              <a:extLst>
                <a:ext uri="{FF2B5EF4-FFF2-40B4-BE49-F238E27FC236}">
                  <a16:creationId xmlns:a16="http://schemas.microsoft.com/office/drawing/2014/main" id="{A108FB8B-558B-4F9E-970F-72D2EE57F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3" name="Rectangle 25">
              <a:extLst>
                <a:ext uri="{FF2B5EF4-FFF2-40B4-BE49-F238E27FC236}">
                  <a16:creationId xmlns:a16="http://schemas.microsoft.com/office/drawing/2014/main" id="{481E92F1-5BD2-4422-B875-90578CEAA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4" name="Isosceles Triangle 93">
              <a:extLst>
                <a:ext uri="{FF2B5EF4-FFF2-40B4-BE49-F238E27FC236}">
                  <a16:creationId xmlns:a16="http://schemas.microsoft.com/office/drawing/2014/main" id="{9D9630F3-9488-4F58-9098-F6B8552BD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5" name="Rectangle 27">
              <a:extLst>
                <a:ext uri="{FF2B5EF4-FFF2-40B4-BE49-F238E27FC236}">
                  <a16:creationId xmlns:a16="http://schemas.microsoft.com/office/drawing/2014/main" id="{A82B105D-E7A6-4F3A-AFDA-B9133F6BD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6" name="Rectangle 28">
              <a:extLst>
                <a:ext uri="{FF2B5EF4-FFF2-40B4-BE49-F238E27FC236}">
                  <a16:creationId xmlns:a16="http://schemas.microsoft.com/office/drawing/2014/main" id="{592262AB-546B-41A7-99DE-EC034F0722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7" name="Rectangle 29">
              <a:extLst>
                <a:ext uri="{FF2B5EF4-FFF2-40B4-BE49-F238E27FC236}">
                  <a16:creationId xmlns:a16="http://schemas.microsoft.com/office/drawing/2014/main" id="{D878A1F7-F404-41A0-BD7C-9739499BD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8" name="Isosceles Triangle 97">
              <a:extLst>
                <a:ext uri="{FF2B5EF4-FFF2-40B4-BE49-F238E27FC236}">
                  <a16:creationId xmlns:a16="http://schemas.microsoft.com/office/drawing/2014/main" id="{0076BF32-29FF-4C3A-B1AF-91A28EFD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9" name="Isosceles Triangle 98">
              <a:extLst>
                <a:ext uri="{FF2B5EF4-FFF2-40B4-BE49-F238E27FC236}">
                  <a16:creationId xmlns:a16="http://schemas.microsoft.com/office/drawing/2014/main" id="{0A4C29F3-B3A2-40B9-8670-ADA39B0C4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68" name="Rectangle 67">
            <a:extLst>
              <a:ext uri="{FF2B5EF4-FFF2-40B4-BE49-F238E27FC236}">
                <a16:creationId xmlns:a16="http://schemas.microsoft.com/office/drawing/2014/main" id="{21029ED5-F105-4DD2-99C8-1E4422817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D621E68-BF28-4A1C-B1A2-4E55E139E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BE8BBE4D-F0DF-49B9-B75A-99DAC53ACA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Rectangle 23">
              <a:extLst>
                <a:ext uri="{FF2B5EF4-FFF2-40B4-BE49-F238E27FC236}">
                  <a16:creationId xmlns:a16="http://schemas.microsoft.com/office/drawing/2014/main" id="{E0F07DDC-34A6-46A1-9DE9-2BBE2931A5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1" name="Rectangle 25">
              <a:extLst>
                <a:ext uri="{FF2B5EF4-FFF2-40B4-BE49-F238E27FC236}">
                  <a16:creationId xmlns:a16="http://schemas.microsoft.com/office/drawing/2014/main" id="{2CEB2BF9-B8DB-45B9-86EA-D197B5B1A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2" name="Isosceles Triangle 101">
              <a:extLst>
                <a:ext uri="{FF2B5EF4-FFF2-40B4-BE49-F238E27FC236}">
                  <a16:creationId xmlns:a16="http://schemas.microsoft.com/office/drawing/2014/main" id="{08B5BB34-3801-4E70-A981-FE007635E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3" name="Rectangle 27">
              <a:extLst>
                <a:ext uri="{FF2B5EF4-FFF2-40B4-BE49-F238E27FC236}">
                  <a16:creationId xmlns:a16="http://schemas.microsoft.com/office/drawing/2014/main" id="{38432A75-2CEB-463C-A8F2-ABB50A79F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4" name="Rectangle 28">
              <a:extLst>
                <a:ext uri="{FF2B5EF4-FFF2-40B4-BE49-F238E27FC236}">
                  <a16:creationId xmlns:a16="http://schemas.microsoft.com/office/drawing/2014/main" id="{E7E850B8-C050-4597-8BEB-113FEC9A2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5" name="Rectangle 29">
              <a:extLst>
                <a:ext uri="{FF2B5EF4-FFF2-40B4-BE49-F238E27FC236}">
                  <a16:creationId xmlns:a16="http://schemas.microsoft.com/office/drawing/2014/main" id="{24ACC798-9CEC-4B6F-A8DD-F8E6FCCCF1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6" name="Isosceles Triangle 105">
              <a:extLst>
                <a:ext uri="{FF2B5EF4-FFF2-40B4-BE49-F238E27FC236}">
                  <a16:creationId xmlns:a16="http://schemas.microsoft.com/office/drawing/2014/main" id="{1D58A8C6-1294-4CD9-89BC-F1E981A52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7" name="Isosceles Triangle 106">
              <a:extLst>
                <a:ext uri="{FF2B5EF4-FFF2-40B4-BE49-F238E27FC236}">
                  <a16:creationId xmlns:a16="http://schemas.microsoft.com/office/drawing/2014/main" id="{F32F2ED6-6143-46C4-A641-72D42732B6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81" name="Rectangle 80">
            <a:extLst>
              <a:ext uri="{FF2B5EF4-FFF2-40B4-BE49-F238E27FC236}">
                <a16:creationId xmlns:a16="http://schemas.microsoft.com/office/drawing/2014/main" id="{5C9652B3-A450-4ED6-8FBF-F536BA60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61D781-5570-43CB-5812-17431CA14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</a:rPr>
              <a:t>Ethics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0EB70E-3485-912B-7BAF-BB3826DD72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7528676"/>
              </p:ext>
            </p:extLst>
          </p:nvPr>
        </p:nvGraphicFramePr>
        <p:xfrm>
          <a:off x="813097" y="1543125"/>
          <a:ext cx="10139975" cy="4705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13690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olourful carved figures of humans">
            <a:extLst>
              <a:ext uri="{FF2B5EF4-FFF2-40B4-BE49-F238E27FC236}">
                <a16:creationId xmlns:a16="http://schemas.microsoft.com/office/drawing/2014/main" id="{B563AFB6-F5C4-23E6-0A53-AA72492868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28230"/>
          <a:stretch/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2A4588C6-4069-4731-BFB4-10F1E6D37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Parallelogram 27">
            <a:extLst>
              <a:ext uri="{FF2B5EF4-FFF2-40B4-BE49-F238E27FC236}">
                <a16:creationId xmlns:a16="http://schemas.microsoft.com/office/drawing/2014/main" id="{23370524-0FE7-41B4-ABCF-7FB26B6CF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24188" y="0"/>
            <a:ext cx="9372600" cy="6858000"/>
          </a:xfrm>
          <a:prstGeom prst="parallelogram">
            <a:avLst>
              <a:gd name="adj" fmla="val 14937"/>
            </a:avLst>
          </a:prstGeom>
          <a:solidFill>
            <a:schemeClr val="bg1">
              <a:alpha val="9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0A9CA40-1F57-4A6D-ACDA-F720AA468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2A94EDB-B0FE-4678-8E69-0F137AE3B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23">
            <a:extLst>
              <a:ext uri="{FF2B5EF4-FFF2-40B4-BE49-F238E27FC236}">
                <a16:creationId xmlns:a16="http://schemas.microsoft.com/office/drawing/2014/main" id="{4E93B92B-0DD5-4277-9D69-972ABADC3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870558-CB03-BF1C-D6C3-7EE4DBED9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8798" y="323386"/>
            <a:ext cx="6487955" cy="132080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b="1" dirty="0">
                <a:solidFill>
                  <a:schemeClr val="accent2">
                    <a:lumMod val="50000"/>
                  </a:schemeClr>
                </a:solidFill>
              </a:rPr>
              <a:t>Why is Ethical Behavior Important in Community Interventions?</a:t>
            </a:r>
          </a:p>
        </p:txBody>
      </p:sp>
      <p:sp>
        <p:nvSpPr>
          <p:cNvPr id="36" name="Rectangle 25">
            <a:extLst>
              <a:ext uri="{FF2B5EF4-FFF2-40B4-BE49-F238E27FC236}">
                <a16:creationId xmlns:a16="http://schemas.microsoft.com/office/drawing/2014/main" id="{7CE87768-354E-4E3F-8202-9F387CF50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09E5B98F-BD75-4A30-BF72-0A91074702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7824AEF-B206-7AC3-00E2-4F798696D9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52547" y="1561172"/>
            <a:ext cx="7961970" cy="497344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rtl="0" eaLnBrk="0" fontAlgn="base" latinLnBrk="0" hangingPunct="0">
              <a:spcBef>
                <a:spcPct val="0"/>
              </a:spcBef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</a:rPr>
              <a:t>Moral Obligation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</a:rPr>
              <a:t>Acting ethically is simply the right thing to do.</a:t>
            </a:r>
          </a:p>
          <a:p>
            <a:pPr marL="0" marR="0" lvl="0" indent="0" algn="just" defTabSz="914400" rtl="0" eaLnBrk="0" fontAlgn="base" latinLnBrk="0" hangingPunct="0">
              <a:spcBef>
                <a:spcPts val="600"/>
              </a:spcBef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</a:rPr>
              <a:t>Program Effectiveness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</a:rPr>
              <a:t>Ethical behavior leads to more effective, community-centered methods.</a:t>
            </a:r>
          </a:p>
          <a:p>
            <a:pPr marL="0" marR="0" lvl="0" indent="0" algn="just" defTabSz="914400" rtl="0" eaLnBrk="0" fontAlgn="base" latinLnBrk="0" hangingPunct="0">
              <a:spcBef>
                <a:spcPts val="600"/>
              </a:spcBef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</a:rPr>
              <a:t>Standing in the Community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</a:rPr>
              <a:t>Builds trust and respect, making it easier to recruit, fundraise, and gain public support.</a:t>
            </a:r>
          </a:p>
          <a:p>
            <a:pPr marL="0" marR="0" lvl="0" indent="0" algn="just" defTabSz="914400" rtl="0" eaLnBrk="0" fontAlgn="base" latinLnBrk="0" hangingPunct="0">
              <a:spcBef>
                <a:spcPts val="600"/>
              </a:spcBef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</a:rPr>
              <a:t>Moral Credibility &amp; Leadership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</a:rPr>
              <a:t>Ethical actions enhance credibility, strengthen leadership, and align with the goals of community betterment.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Rectangle 27">
            <a:extLst>
              <a:ext uri="{FF2B5EF4-FFF2-40B4-BE49-F238E27FC236}">
                <a16:creationId xmlns:a16="http://schemas.microsoft.com/office/drawing/2014/main" id="{8AAB91E3-41BE-4478-BF23-A24D43E146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2" name="Rectangle 28">
            <a:extLst>
              <a:ext uri="{FF2B5EF4-FFF2-40B4-BE49-F238E27FC236}">
                <a16:creationId xmlns:a16="http://schemas.microsoft.com/office/drawing/2014/main" id="{96DFC7EA-8516-41F1-8ED9-C0A8E1E08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4" name="Rectangle 29">
            <a:extLst>
              <a:ext uri="{FF2B5EF4-FFF2-40B4-BE49-F238E27FC236}">
                <a16:creationId xmlns:a16="http://schemas.microsoft.com/office/drawing/2014/main" id="{E24E972C-8744-4CFA-B783-41EA3CC38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C7C88F2E-E233-48BA-B85F-D06BA522B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540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DF4D7F6-81B5-452A-9CE6-76D81F91D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CFFFD3-B6FE-6DB8-84E3-3A221D613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3" y="348616"/>
            <a:ext cx="8596668" cy="13208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Major Ethical Considerations for those Working in Community Services </a:t>
            </a:r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4600514D-20FB-4559-97DC-D1DC39E6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266F638A-E405-4AC0-B984-72E5813B0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D1CBE93-B17D-4509-843C-82287C380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134600" y="0"/>
            <a:ext cx="1727200" cy="6858000"/>
          </a:xfrm>
          <a:prstGeom prst="line">
            <a:avLst/>
          </a:prstGeom>
          <a:ln w="15875" cap="sq">
            <a:solidFill>
              <a:schemeClr val="accent2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E6277B4-6A43-48AB-89B2-344222161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2EAFA-6753-023D-8C22-4EEE386C3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62" y="1830040"/>
            <a:ext cx="10178199" cy="4679344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Harm Avoidance   </a:t>
            </a:r>
          </a:p>
          <a:p>
            <a:pPr marL="9144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</a:rPr>
              <a:t>Understand the community's historical context before engaging.</a:t>
            </a:r>
          </a:p>
          <a:p>
            <a:pPr marL="9144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</a:rPr>
              <a:t>Provide support aligned with the community’s needs, avoiding a “savior complex.”</a:t>
            </a:r>
          </a:p>
          <a:p>
            <a:pPr marL="9144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</a:rPr>
              <a:t>Assess, minimize, and manage risks to prevent harm in community activities.</a:t>
            </a:r>
          </a:p>
          <a:p>
            <a:pPr>
              <a:lnSpc>
                <a:spcPct val="90000"/>
              </a:lnSpc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Types of Harm to Avoid</a:t>
            </a:r>
          </a:p>
          <a:p>
            <a:pPr marL="9144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Physical Harms</a:t>
            </a:r>
            <a:r>
              <a:rPr lang="en-US" sz="2000" dirty="0"/>
              <a:t>: </a:t>
            </a:r>
            <a:r>
              <a:rPr lang="en-US" sz="2000" dirty="0">
                <a:solidFill>
                  <a:schemeClr val="tx1"/>
                </a:solidFill>
              </a:rPr>
              <a:t>Injury, illness, or pain to clients or employees.</a:t>
            </a:r>
          </a:p>
          <a:p>
            <a:pPr marL="9144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Psychological Harms: </a:t>
            </a:r>
            <a:r>
              <a:rPr lang="en-US" sz="2000" dirty="0">
                <a:solidFill>
                  <a:schemeClr val="tx1"/>
                </a:solidFill>
              </a:rPr>
              <a:t>Feelings of distress, guilt, anger, or fear due to services provided.</a:t>
            </a:r>
          </a:p>
          <a:p>
            <a:pPr marL="9144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Devaluation of Personal Worth</a:t>
            </a:r>
            <a:r>
              <a:rPr lang="en-US" sz="2000" b="1" dirty="0"/>
              <a:t>: </a:t>
            </a:r>
            <a:r>
              <a:rPr lang="en-US" sz="2000" dirty="0">
                <a:solidFill>
                  <a:schemeClr val="tx1"/>
                </a:solidFill>
              </a:rPr>
              <a:t>Humiliation, manipulation, or unjust treatment.</a:t>
            </a:r>
          </a:p>
          <a:p>
            <a:pPr marL="9144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Social Harms: </a:t>
            </a:r>
            <a:r>
              <a:rPr lang="en-US" sz="2000" dirty="0">
                <a:solidFill>
                  <a:schemeClr val="tx1"/>
                </a:solidFill>
              </a:rPr>
              <a:t>Damaged relationships, discrimination, or social stigmatization</a:t>
            </a:r>
            <a:r>
              <a:rPr lang="en-US" sz="2000" dirty="0"/>
              <a:t>.</a:t>
            </a:r>
          </a:p>
          <a:p>
            <a:pPr marL="9144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Economic Harms: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Imposing costs or financial burdens on participants.</a:t>
            </a:r>
          </a:p>
        </p:txBody>
      </p:sp>
      <p:sp>
        <p:nvSpPr>
          <p:cNvPr id="42" name="Rectangle 27">
            <a:extLst>
              <a:ext uri="{FF2B5EF4-FFF2-40B4-BE49-F238E27FC236}">
                <a16:creationId xmlns:a16="http://schemas.microsoft.com/office/drawing/2014/main" id="{27B538D5-95DB-47ED-9CB4-34AE5BF78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660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859D3E6-DEE5-1EA1-F996-D4EC69BDC049}"/>
              </a:ext>
            </a:extLst>
          </p:cNvPr>
          <p:cNvSpPr txBox="1">
            <a:spLocks/>
          </p:cNvSpPr>
          <p:nvPr/>
        </p:nvSpPr>
        <p:spPr>
          <a:xfrm>
            <a:off x="3668750" y="367990"/>
            <a:ext cx="7337503" cy="62223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Power Dynamics </a:t>
            </a:r>
            <a:endParaRPr lang="en-US" sz="2400" dirty="0">
              <a:solidFill>
                <a:srgbClr val="FF0000"/>
              </a:solidFill>
            </a:endParaRPr>
          </a:p>
          <a:p>
            <a:pPr marL="9144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</a:rPr>
              <a:t>Refers to unequal distribution of resources, influence, and authority in community consultation. </a:t>
            </a:r>
          </a:p>
          <a:p>
            <a:pPr marL="9144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</a:rPr>
              <a:t>Do not abuse your position for personal or political gain. Promote fairness, inclusivity, and respect in decision-making processes.</a:t>
            </a:r>
          </a:p>
          <a:p>
            <a:pPr marL="0" indent="0">
              <a:buFont typeface="Wingdings 3" charset="2"/>
              <a:buNone/>
            </a:pPr>
            <a:r>
              <a:rPr lang="en-US" sz="2400" b="1" dirty="0">
                <a:solidFill>
                  <a:srgbClr val="FF0000"/>
                </a:solidFill>
              </a:rPr>
              <a:t>Cultural Sensitivity</a:t>
            </a:r>
          </a:p>
          <a:p>
            <a:endParaRPr lang="en-US" sz="2400" dirty="0"/>
          </a:p>
          <a:p>
            <a:r>
              <a:rPr lang="en-US" sz="2400" dirty="0">
                <a:solidFill>
                  <a:schemeClr val="tx1"/>
                </a:solidFill>
              </a:rPr>
              <a:t>To be culturally sensitive means you do not believe one culture is superior to another. In other words, you recognize differences without assigning a specific value to any one culture. </a:t>
            </a:r>
          </a:p>
        </p:txBody>
      </p:sp>
      <p:pic>
        <p:nvPicPr>
          <p:cNvPr id="6" name="Picture 2" descr="Cultural Sensitivity | Definition ...">
            <a:extLst>
              <a:ext uri="{FF2B5EF4-FFF2-40B4-BE49-F238E27FC236}">
                <a16:creationId xmlns:a16="http://schemas.microsoft.com/office/drawing/2014/main" id="{0DD0B7B3-0FB1-7976-FC8C-A51CC89D2B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79" t="8537"/>
          <a:stretch/>
        </p:blipFill>
        <p:spPr bwMode="auto">
          <a:xfrm>
            <a:off x="0" y="0"/>
            <a:ext cx="354608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6907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One in a crowd">
            <a:extLst>
              <a:ext uri="{FF2B5EF4-FFF2-40B4-BE49-F238E27FC236}">
                <a16:creationId xmlns:a16="http://schemas.microsoft.com/office/drawing/2014/main" id="{87F09A4B-06FF-D4D5-E778-C039481D23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16198" b="15621"/>
          <a:stretch/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2A4588C6-4069-4731-BFB4-10F1E6D37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Parallelogram 21">
            <a:extLst>
              <a:ext uri="{FF2B5EF4-FFF2-40B4-BE49-F238E27FC236}">
                <a16:creationId xmlns:a16="http://schemas.microsoft.com/office/drawing/2014/main" id="{23370524-0FE7-41B4-ABCF-7FB26B6CF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24188" y="0"/>
            <a:ext cx="9372600" cy="6858000"/>
          </a:xfrm>
          <a:prstGeom prst="parallelogram">
            <a:avLst>
              <a:gd name="adj" fmla="val 14937"/>
            </a:avLst>
          </a:prstGeom>
          <a:solidFill>
            <a:schemeClr val="bg1">
              <a:alpha val="9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0A9CA40-1F57-4A6D-ACDA-F720AA468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2A94EDB-B0FE-4678-8E69-0F137AE3B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3">
            <a:extLst>
              <a:ext uri="{FF2B5EF4-FFF2-40B4-BE49-F238E27FC236}">
                <a16:creationId xmlns:a16="http://schemas.microsoft.com/office/drawing/2014/main" id="{4E93B92B-0DD5-4277-9D69-972ABADC3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Rectangle 25">
            <a:extLst>
              <a:ext uri="{FF2B5EF4-FFF2-40B4-BE49-F238E27FC236}">
                <a16:creationId xmlns:a16="http://schemas.microsoft.com/office/drawing/2014/main" id="{7CE87768-354E-4E3F-8202-9F387CF50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09E5B98F-BD75-4A30-BF72-0A91074702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C5B2BC9-BAE7-F071-478D-0074475E8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8177" y="1011746"/>
            <a:ext cx="7008099" cy="482603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Competency (Best Practices to do)</a:t>
            </a:r>
          </a:p>
          <a:p>
            <a:pPr marL="914400" marR="0" lvl="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Avoid interventions where you're untrained or inexperienced.</a:t>
            </a:r>
          </a:p>
          <a:p>
            <a:pPr marL="914400" marR="0" lvl="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Focus on creating the most effective program to benefit participants and address community needs.</a:t>
            </a:r>
            <a:endParaRPr lang="en-US" sz="2400" b="1" dirty="0">
              <a:solidFill>
                <a:schemeClr val="tx1"/>
              </a:solidFill>
            </a:endParaRPr>
          </a:p>
          <a:p>
            <a:pPr algn="just">
              <a:lnSpc>
                <a:spcPct val="9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Consent (Best Practices to do)</a:t>
            </a:r>
          </a:p>
          <a:p>
            <a:pPr marL="914400" marR="0" lvl="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Ensure participants voluntarily agree to participate, based on informed decisions.</a:t>
            </a:r>
          </a:p>
          <a:p>
            <a:pPr marL="914400" marR="0" lvl="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Consent must be freely given, with participants fully understanding the activities, outcomes, and implications.</a:t>
            </a:r>
          </a:p>
        </p:txBody>
      </p:sp>
      <p:sp>
        <p:nvSpPr>
          <p:cNvPr id="34" name="Rectangle 27">
            <a:extLst>
              <a:ext uri="{FF2B5EF4-FFF2-40B4-BE49-F238E27FC236}">
                <a16:creationId xmlns:a16="http://schemas.microsoft.com/office/drawing/2014/main" id="{8AAB91E3-41BE-4478-BF23-A24D43E146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" name="Rectangle 28">
            <a:extLst>
              <a:ext uri="{FF2B5EF4-FFF2-40B4-BE49-F238E27FC236}">
                <a16:creationId xmlns:a16="http://schemas.microsoft.com/office/drawing/2014/main" id="{96DFC7EA-8516-41F1-8ED9-C0A8E1E08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Rectangle 29">
            <a:extLst>
              <a:ext uri="{FF2B5EF4-FFF2-40B4-BE49-F238E27FC236}">
                <a16:creationId xmlns:a16="http://schemas.microsoft.com/office/drawing/2014/main" id="{E24E972C-8744-4CFA-B783-41EA3CC38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C7C88F2E-E233-48BA-B85F-D06BA522B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FDCB9702-67EB-2137-5E52-CE23D9300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2823703"/>
            <a:ext cx="264816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en-US" altLang="en-US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en-US" altLang="en-US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en-US" altLang="en-US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5245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9D3E6-DEE5-1EA1-F996-D4EC69BDC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132" y="691377"/>
            <a:ext cx="8526870" cy="5731726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+mj-lt"/>
              </a:rPr>
              <a:t>Privacy and Confidentiality (Best Practices to do)</a:t>
            </a:r>
          </a:p>
          <a:p>
            <a:pPr marL="858838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Be transparent about confidentiality limits.</a:t>
            </a:r>
          </a:p>
          <a:p>
            <a:pPr marL="858838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Avoid sharing or disclosing personal information unless necessary and approved.</a:t>
            </a:r>
          </a:p>
          <a:p>
            <a:pPr marL="858838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Respect the privacy of individuals and maintain professional boundaries.</a:t>
            </a:r>
          </a:p>
          <a:p>
            <a:r>
              <a:rPr lang="en-US" sz="2400" b="1" dirty="0">
                <a:solidFill>
                  <a:srgbClr val="FF0000"/>
                </a:solidFill>
                <a:latin typeface="+mj-lt"/>
              </a:rPr>
              <a:t>Conflict of Interest in Community </a:t>
            </a:r>
          </a:p>
          <a:p>
            <a:pPr marL="9144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+mj-lt"/>
              </a:rPr>
              <a:t>Occurs when personal interests (financial, political, social, etc.) could influence decisions or actions in a community setting.</a:t>
            </a:r>
          </a:p>
          <a:p>
            <a:pPr marL="9144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+mj-lt"/>
              </a:rPr>
              <a:t>Separate personal interests from professional duties. </a:t>
            </a:r>
          </a:p>
          <a:p>
            <a:pPr marL="9144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+mj-lt"/>
              </a:rPr>
              <a:t>Make decisions that prioritize the community’s needs and well-being.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070DC33-C73F-4A03-D55D-B39ACE8BA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493" y="914737"/>
            <a:ext cx="26481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071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C4847-90DB-9FD1-B4D4-8D91A9A9D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1307" y="557562"/>
            <a:ext cx="8664497" cy="6211228"/>
          </a:xfrm>
        </p:spPr>
        <p:txBody>
          <a:bodyPr>
            <a:normAutofit lnSpcReduction="10000"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Responsible Use of Resources </a:t>
            </a:r>
          </a:p>
          <a:p>
            <a:pPr marL="747713" indent="-346075"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tx1"/>
                </a:solidFill>
              </a:rPr>
              <a:t>Resources can be physical (land, buildings) or intangible (knowledge, skills).</a:t>
            </a:r>
          </a:p>
          <a:p>
            <a:pPr marL="747713" indent="-346075"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tx1"/>
                </a:solidFill>
              </a:rPr>
              <a:t>Understand the role and availability of both public and private resources.</a:t>
            </a:r>
          </a:p>
          <a:p>
            <a:pPr marL="747713" indent="-346075"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tx1"/>
                </a:solidFill>
              </a:rPr>
              <a:t>Promote collaboration between stakeholders to reach community goals.</a:t>
            </a:r>
          </a:p>
          <a:p>
            <a:pPr marL="747713" indent="-346075"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tx1"/>
                </a:solidFill>
              </a:rPr>
              <a:t>Create a resource plan with timelines, budgets, and monitoring for efficient allocation.</a:t>
            </a:r>
          </a:p>
          <a:p>
            <a:pPr marL="747713" indent="-346075"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tx1"/>
                </a:solidFill>
              </a:rPr>
              <a:t>Evaluate and adjust the plan to ensure resources are used effectively.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Reporting Relevant Issues or Unethical Organizational Behavior</a:t>
            </a:r>
          </a:p>
          <a:p>
            <a:pPr marL="747713"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tx1"/>
                </a:solidFill>
              </a:rPr>
              <a:t>Use the organization’s proper reporting channels.</a:t>
            </a:r>
          </a:p>
          <a:p>
            <a:pPr marL="747713"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tx1"/>
                </a:solidFill>
              </a:rPr>
              <a:t>Ensure prompt notification of issues to prevent harm and maintain trust.</a:t>
            </a:r>
          </a:p>
        </p:txBody>
      </p:sp>
    </p:spTree>
    <p:extLst>
      <p:ext uri="{BB962C8B-B14F-4D97-AF65-F5344CB8AC3E}">
        <p14:creationId xmlns:p14="http://schemas.microsoft.com/office/powerpoint/2010/main" val="2527838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70A60-1396-55A4-F8C3-9323B0FA8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822" y="722080"/>
            <a:ext cx="8596668" cy="5656417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Refusal to Accept Benefits</a:t>
            </a:r>
          </a:p>
          <a:p>
            <a:pPr marL="747713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</a:rPr>
              <a:t>Politely decline offers of gifts or benefits from clients.</a:t>
            </a:r>
          </a:p>
          <a:p>
            <a:pPr marL="747713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</a:rPr>
              <a:t>Follow organizational policies regarding accepting gifts or benefits.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Promoting Social Justice</a:t>
            </a:r>
          </a:p>
          <a:p>
            <a:pPr marL="747713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</a:rPr>
              <a:t>Ensure that services and resources are accessible to everyone, without bias or discrimination. </a:t>
            </a:r>
          </a:p>
          <a:p>
            <a:pPr marL="747713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</a:rPr>
              <a:t>Treat clients with respect, dignity, and tolerance. </a:t>
            </a:r>
          </a:p>
          <a:p>
            <a:pPr marL="747713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</a:rPr>
              <a:t>Create an environment free from oppression, racism, and discrimination. </a:t>
            </a:r>
          </a:p>
          <a:p>
            <a:pPr marL="747713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</a:rPr>
              <a:t>Respect individual differences and treat all people equally.</a:t>
            </a:r>
          </a:p>
        </p:txBody>
      </p:sp>
    </p:spTree>
    <p:extLst>
      <p:ext uri="{BB962C8B-B14F-4D97-AF65-F5344CB8AC3E}">
        <p14:creationId xmlns:p14="http://schemas.microsoft.com/office/powerpoint/2010/main" val="976567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70A60-1396-55A4-F8C3-9323B0FA8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59727"/>
            <a:ext cx="8596668" cy="4881635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Valuing Human Relationships and Respecting Dignity</a:t>
            </a:r>
            <a:endParaRPr lang="en-US" sz="2400" dirty="0"/>
          </a:p>
          <a:p>
            <a:pPr marL="747713" algn="just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</a:rPr>
              <a:t>Foster respectful and equitable relationships.</a:t>
            </a:r>
          </a:p>
          <a:p>
            <a:pPr marL="747713" algn="just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</a:rPr>
              <a:t>Ensure that all individuals' human, civil, and legal rights are respected and upheld.</a:t>
            </a:r>
          </a:p>
          <a:p>
            <a:pPr marL="747713" algn="just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</a:rPr>
              <a:t>Continuously develop self-awareness and engage in self-reflection to guide practice.</a:t>
            </a:r>
          </a:p>
        </p:txBody>
      </p:sp>
    </p:spTree>
    <p:extLst>
      <p:ext uri="{BB962C8B-B14F-4D97-AF65-F5344CB8AC3E}">
        <p14:creationId xmlns:p14="http://schemas.microsoft.com/office/powerpoint/2010/main" val="315427552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362</TotalTime>
  <Words>717</Words>
  <Application>Microsoft Office PowerPoint</Application>
  <PresentationFormat>Widescreen</PresentationFormat>
  <Paragraphs>87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ADLaM Display</vt:lpstr>
      <vt:lpstr>Arial</vt:lpstr>
      <vt:lpstr>Calibri</vt:lpstr>
      <vt:lpstr>Courier New</vt:lpstr>
      <vt:lpstr>Times New Roman</vt:lpstr>
      <vt:lpstr>Trebuchet MS</vt:lpstr>
      <vt:lpstr>Wingdings</vt:lpstr>
      <vt:lpstr>Wingdings 3</vt:lpstr>
      <vt:lpstr>Facet</vt:lpstr>
      <vt:lpstr>FAST National University of Computer and Emerging Sciences, Islamabad</vt:lpstr>
      <vt:lpstr>PowerPoint Presentation</vt:lpstr>
      <vt:lpstr>Ethics</vt:lpstr>
      <vt:lpstr>Why is Ethical Behavior Important in Community Interventions?</vt:lpstr>
      <vt:lpstr>Major Ethical Considerations for those Working in Community Services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MAZHAR</dc:creator>
  <cp:lastModifiedBy>TAYYABA WASEEM</cp:lastModifiedBy>
  <cp:revision>75</cp:revision>
  <dcterms:created xsi:type="dcterms:W3CDTF">2024-09-06T11:14:49Z</dcterms:created>
  <dcterms:modified xsi:type="dcterms:W3CDTF">2025-08-01T05:26:08Z</dcterms:modified>
</cp:coreProperties>
</file>