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1" r:id="rId1"/>
    <p:sldMasterId id="2147483705" r:id="rId2"/>
  </p:sldMasterIdLst>
  <p:notesMasterIdLst>
    <p:notesMasterId r:id="rId36"/>
  </p:notesMasterIdLst>
  <p:sldIdLst>
    <p:sldId id="341" r:id="rId3"/>
    <p:sldId id="256" r:id="rId4"/>
    <p:sldId id="260" r:id="rId5"/>
    <p:sldId id="258" r:id="rId6"/>
    <p:sldId id="261" r:id="rId7"/>
    <p:sldId id="259" r:id="rId8"/>
    <p:sldId id="342" r:id="rId9"/>
    <p:sldId id="264" r:id="rId10"/>
    <p:sldId id="265" r:id="rId11"/>
    <p:sldId id="344" r:id="rId12"/>
    <p:sldId id="347" r:id="rId13"/>
    <p:sldId id="345" r:id="rId14"/>
    <p:sldId id="268" r:id="rId15"/>
    <p:sldId id="277" r:id="rId16"/>
    <p:sldId id="348" r:id="rId17"/>
    <p:sldId id="349" r:id="rId18"/>
    <p:sldId id="272" r:id="rId19"/>
    <p:sldId id="270" r:id="rId20"/>
    <p:sldId id="281" r:id="rId21"/>
    <p:sldId id="353" r:id="rId22"/>
    <p:sldId id="351" r:id="rId23"/>
    <p:sldId id="352" r:id="rId24"/>
    <p:sldId id="355" r:id="rId25"/>
    <p:sldId id="361" r:id="rId26"/>
    <p:sldId id="362" r:id="rId27"/>
    <p:sldId id="363" r:id="rId28"/>
    <p:sldId id="364" r:id="rId29"/>
    <p:sldId id="365" r:id="rId30"/>
    <p:sldId id="366" r:id="rId31"/>
    <p:sldId id="367" r:id="rId32"/>
    <p:sldId id="368" r:id="rId33"/>
    <p:sldId id="369" r:id="rId34"/>
    <p:sldId id="318" r:id="rId35"/>
  </p:sldIdLst>
  <p:sldSz cx="9144000" cy="5143500" type="screen16x9"/>
  <p:notesSz cx="6858000" cy="9144000"/>
  <p:embeddedFontLst>
    <p:embeddedFont>
      <p:font typeface="ADLaM Display" panose="02010000000000000000" pitchFamily="2" charset="0"/>
      <p:regular r:id="rId37"/>
    </p:embeddedFont>
    <p:embeddedFont>
      <p:font typeface="Garamond" panose="02020404030301010803" pitchFamily="18" charset="0"/>
      <p:regular r:id="rId38"/>
      <p:bold r:id="rId39"/>
      <p:italic r:id="rId40"/>
    </p:embeddedFont>
    <p:embeddedFont>
      <p:font typeface="Kulim Park" panose="020B0604020202020204" charset="0"/>
      <p:regular r:id="rId41"/>
      <p:bold r:id="rId42"/>
      <p:italic r:id="rId43"/>
      <p:boldItalic r:id="rId44"/>
    </p:embeddedFont>
    <p:embeddedFont>
      <p:font typeface="Kulim Park SemiBold" panose="020B0604020202020204" charset="0"/>
      <p:regular r:id="rId45"/>
      <p:bold r:id="rId46"/>
      <p:italic r:id="rId47"/>
      <p:boldItalic r:id="rId48"/>
    </p:embeddedFont>
    <p:embeddedFont>
      <p:font typeface="Manrope" panose="020B0604020202020204" charset="0"/>
      <p:regular r:id="rId49"/>
      <p:bold r:id="rId50"/>
    </p:embeddedFont>
    <p:embeddedFont>
      <p:font typeface="Nunito Light" pitchFamily="2" charset="0"/>
      <p:regular r:id="rId51"/>
      <p: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BA43276-446A-474B-8A87-32FEB07EC37F}">
  <a:tblStyle styleId="{7BA43276-446A-474B-8A87-32FEB07EC37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029217D-D04C-47C5-A052-2017A5FA09A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10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3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font" Target="fonts/font14.fntdata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8.fntdata"/><Relationship Id="rId52" Type="http://schemas.openxmlformats.org/officeDocument/2006/relationships/font" Target="fonts/font1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font" Target="fonts/font15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8.xml"/><Relationship Id="rId41" Type="http://schemas.openxmlformats.org/officeDocument/2006/relationships/font" Target="fonts/font5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ead6129809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ead6129809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ead6129809_1_217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ead6129809_1_217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124dc3920de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124dc3920de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124dc3920d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124dc3920d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>
          <a:extLst>
            <a:ext uri="{FF2B5EF4-FFF2-40B4-BE49-F238E27FC236}">
              <a16:creationId xmlns:a16="http://schemas.microsoft.com/office/drawing/2014/main" id="{9BF53CC6-50F2-3518-42AF-3DA3E8106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124dc3920de_0_0:notes">
            <a:extLst>
              <a:ext uri="{FF2B5EF4-FFF2-40B4-BE49-F238E27FC236}">
                <a16:creationId xmlns:a16="http://schemas.microsoft.com/office/drawing/2014/main" id="{BC41323B-74B2-B679-B491-6023A5C18A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124dc3920de_0_0:notes">
            <a:extLst>
              <a:ext uri="{FF2B5EF4-FFF2-40B4-BE49-F238E27FC236}">
                <a16:creationId xmlns:a16="http://schemas.microsoft.com/office/drawing/2014/main" id="{97F29057-4605-175F-E0AD-2C6EB969CE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63519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ead6129809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ead6129809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ead6129809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ead6129809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>
          <a:extLst>
            <a:ext uri="{FF2B5EF4-FFF2-40B4-BE49-F238E27FC236}">
              <a16:creationId xmlns:a16="http://schemas.microsoft.com/office/drawing/2014/main" id="{F770CE98-8954-43B3-2614-BE13C39BA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ead6129809_0_80:notes">
            <a:extLst>
              <a:ext uri="{FF2B5EF4-FFF2-40B4-BE49-F238E27FC236}">
                <a16:creationId xmlns:a16="http://schemas.microsoft.com/office/drawing/2014/main" id="{373BC3A3-1226-B6E7-F34A-34B6AEE742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ead6129809_0_80:notes">
            <a:extLst>
              <a:ext uri="{FF2B5EF4-FFF2-40B4-BE49-F238E27FC236}">
                <a16:creationId xmlns:a16="http://schemas.microsoft.com/office/drawing/2014/main" id="{E375B2CA-F180-CEE9-A710-F49CF99896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20210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>
          <a:extLst>
            <a:ext uri="{FF2B5EF4-FFF2-40B4-BE49-F238E27FC236}">
              <a16:creationId xmlns:a16="http://schemas.microsoft.com/office/drawing/2014/main" id="{A5309316-8BB7-831A-0F14-830FC668E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ead6129809_0_80:notes">
            <a:extLst>
              <a:ext uri="{FF2B5EF4-FFF2-40B4-BE49-F238E27FC236}">
                <a16:creationId xmlns:a16="http://schemas.microsoft.com/office/drawing/2014/main" id="{8AD5F147-BCA3-F1B7-3059-207928B788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ead6129809_0_80:notes">
            <a:extLst>
              <a:ext uri="{FF2B5EF4-FFF2-40B4-BE49-F238E27FC236}">
                <a16:creationId xmlns:a16="http://schemas.microsoft.com/office/drawing/2014/main" id="{8F223828-4DD2-A205-B247-299A9F557C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87017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>
          <a:extLst>
            <a:ext uri="{FF2B5EF4-FFF2-40B4-BE49-F238E27FC236}">
              <a16:creationId xmlns:a16="http://schemas.microsoft.com/office/drawing/2014/main" id="{8E2310A1-C5D0-45FD-6C44-FA027C71C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ead6129809_0_80:notes">
            <a:extLst>
              <a:ext uri="{FF2B5EF4-FFF2-40B4-BE49-F238E27FC236}">
                <a16:creationId xmlns:a16="http://schemas.microsoft.com/office/drawing/2014/main" id="{20A0BDB6-5B66-4768-F7D1-AD1D574E84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ead6129809_0_80:notes">
            <a:extLst>
              <a:ext uri="{FF2B5EF4-FFF2-40B4-BE49-F238E27FC236}">
                <a16:creationId xmlns:a16="http://schemas.microsoft.com/office/drawing/2014/main" id="{1435C564-6D21-9602-4DC5-5F874D10E1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49328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ead6129809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ead6129809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124dc3920de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124dc3920de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8">
          <a:extLst>
            <a:ext uri="{FF2B5EF4-FFF2-40B4-BE49-F238E27FC236}">
              <a16:creationId xmlns:a16="http://schemas.microsoft.com/office/drawing/2014/main" id="{AA7ABF41-4490-CF6B-61C0-B6A196C30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124dc3920de_0_180:notes">
            <a:extLst>
              <a:ext uri="{FF2B5EF4-FFF2-40B4-BE49-F238E27FC236}">
                <a16:creationId xmlns:a16="http://schemas.microsoft.com/office/drawing/2014/main" id="{89CC4E10-7531-44DF-1702-BAAA0AD31E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124dc3920de_0_180:notes">
            <a:extLst>
              <a:ext uri="{FF2B5EF4-FFF2-40B4-BE49-F238E27FC236}">
                <a16:creationId xmlns:a16="http://schemas.microsoft.com/office/drawing/2014/main" id="{CB89F054-182E-0EC5-E1A8-BA8FBF2DA3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33485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8">
          <a:extLst>
            <a:ext uri="{FF2B5EF4-FFF2-40B4-BE49-F238E27FC236}">
              <a16:creationId xmlns:a16="http://schemas.microsoft.com/office/drawing/2014/main" id="{2FD14171-9550-0DF8-3138-EED499EDA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124dc3920de_0_180:notes">
            <a:extLst>
              <a:ext uri="{FF2B5EF4-FFF2-40B4-BE49-F238E27FC236}">
                <a16:creationId xmlns:a16="http://schemas.microsoft.com/office/drawing/2014/main" id="{E290DF7B-4B97-0024-0461-4039DD0932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124dc3920de_0_180:notes">
            <a:extLst>
              <a:ext uri="{FF2B5EF4-FFF2-40B4-BE49-F238E27FC236}">
                <a16:creationId xmlns:a16="http://schemas.microsoft.com/office/drawing/2014/main" id="{69725D98-80AA-B953-0600-628980C55D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43462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124dc3920de_0_6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124dc3920de_0_6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124dc3920de_0_9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124dc3920de_0_9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ead612980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ead612980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>
          <a:extLst>
            <a:ext uri="{FF2B5EF4-FFF2-40B4-BE49-F238E27FC236}">
              <a16:creationId xmlns:a16="http://schemas.microsoft.com/office/drawing/2014/main" id="{EFB590FB-F5B3-9914-E56F-1BD3C0AA0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ead6129809_0_90:notes">
            <a:extLst>
              <a:ext uri="{FF2B5EF4-FFF2-40B4-BE49-F238E27FC236}">
                <a16:creationId xmlns:a16="http://schemas.microsoft.com/office/drawing/2014/main" id="{4E36C1AE-A265-F749-3EB1-BD8DA67347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ead6129809_0_90:notes">
            <a:extLst>
              <a:ext uri="{FF2B5EF4-FFF2-40B4-BE49-F238E27FC236}">
                <a16:creationId xmlns:a16="http://schemas.microsoft.com/office/drawing/2014/main" id="{A6DDB9F9-38A5-0989-B59F-47C2D8651E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49488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>
          <a:extLst>
            <a:ext uri="{FF2B5EF4-FFF2-40B4-BE49-F238E27FC236}">
              <a16:creationId xmlns:a16="http://schemas.microsoft.com/office/drawing/2014/main" id="{7E9AC7C1-649B-B687-E85B-B5A457CAA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ead6129809_0_90:notes">
            <a:extLst>
              <a:ext uri="{FF2B5EF4-FFF2-40B4-BE49-F238E27FC236}">
                <a16:creationId xmlns:a16="http://schemas.microsoft.com/office/drawing/2014/main" id="{D1D4C21B-CEDA-5AEC-81F4-011A33B9FE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ead6129809_0_90:notes">
            <a:extLst>
              <a:ext uri="{FF2B5EF4-FFF2-40B4-BE49-F238E27FC236}">
                <a16:creationId xmlns:a16="http://schemas.microsoft.com/office/drawing/2014/main" id="{D9E53EF5-84A1-5A38-4AEE-A3568F2F33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22028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>
          <a:extLst>
            <a:ext uri="{FF2B5EF4-FFF2-40B4-BE49-F238E27FC236}">
              <a16:creationId xmlns:a16="http://schemas.microsoft.com/office/drawing/2014/main" id="{754A0D51-BDA5-0406-50E6-0DBA9CE2D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ead6129809_0_90:notes">
            <a:extLst>
              <a:ext uri="{FF2B5EF4-FFF2-40B4-BE49-F238E27FC236}">
                <a16:creationId xmlns:a16="http://schemas.microsoft.com/office/drawing/2014/main" id="{CA85FCF4-4096-A6D0-3246-D808F5904B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ead6129809_0_90:notes">
            <a:extLst>
              <a:ext uri="{FF2B5EF4-FFF2-40B4-BE49-F238E27FC236}">
                <a16:creationId xmlns:a16="http://schemas.microsoft.com/office/drawing/2014/main" id="{2249EB36-8BFA-8E9F-5E3C-9D4830CE77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57490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>
          <a:extLst>
            <a:ext uri="{FF2B5EF4-FFF2-40B4-BE49-F238E27FC236}">
              <a16:creationId xmlns:a16="http://schemas.microsoft.com/office/drawing/2014/main" id="{592C410B-A1F7-C229-2550-5A5438204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ead6129809_0_90:notes">
            <a:extLst>
              <a:ext uri="{FF2B5EF4-FFF2-40B4-BE49-F238E27FC236}">
                <a16:creationId xmlns:a16="http://schemas.microsoft.com/office/drawing/2014/main" id="{92D3C398-9D0E-A2D9-CBD0-90561A6ABD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ead6129809_0_90:notes">
            <a:extLst>
              <a:ext uri="{FF2B5EF4-FFF2-40B4-BE49-F238E27FC236}">
                <a16:creationId xmlns:a16="http://schemas.microsoft.com/office/drawing/2014/main" id="{2C8254FF-B62C-D33D-A7A5-6FB5C45A77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16513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>
          <a:extLst>
            <a:ext uri="{FF2B5EF4-FFF2-40B4-BE49-F238E27FC236}">
              <a16:creationId xmlns:a16="http://schemas.microsoft.com/office/drawing/2014/main" id="{1239A708-67E5-38FA-B2F8-68B2BD357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ead6129809_0_90:notes">
            <a:extLst>
              <a:ext uri="{FF2B5EF4-FFF2-40B4-BE49-F238E27FC236}">
                <a16:creationId xmlns:a16="http://schemas.microsoft.com/office/drawing/2014/main" id="{990354D6-2BEF-D363-96A2-6A3D3B8B18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ead6129809_0_90:notes">
            <a:extLst>
              <a:ext uri="{FF2B5EF4-FFF2-40B4-BE49-F238E27FC236}">
                <a16:creationId xmlns:a16="http://schemas.microsoft.com/office/drawing/2014/main" id="{421764F5-14C0-9648-DB96-1FADEC626C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00576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>
          <a:extLst>
            <a:ext uri="{FF2B5EF4-FFF2-40B4-BE49-F238E27FC236}">
              <a16:creationId xmlns:a16="http://schemas.microsoft.com/office/drawing/2014/main" id="{92F088FB-0228-872E-AA14-682CB0B78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ead6129809_0_90:notes">
            <a:extLst>
              <a:ext uri="{FF2B5EF4-FFF2-40B4-BE49-F238E27FC236}">
                <a16:creationId xmlns:a16="http://schemas.microsoft.com/office/drawing/2014/main" id="{746496E7-8EA2-6D80-854A-B97DE7C0B7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ead6129809_0_90:notes">
            <a:extLst>
              <a:ext uri="{FF2B5EF4-FFF2-40B4-BE49-F238E27FC236}">
                <a16:creationId xmlns:a16="http://schemas.microsoft.com/office/drawing/2014/main" id="{38B5FD97-B4A7-C23C-D906-D8337406C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71101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>
          <a:extLst>
            <a:ext uri="{FF2B5EF4-FFF2-40B4-BE49-F238E27FC236}">
              <a16:creationId xmlns:a16="http://schemas.microsoft.com/office/drawing/2014/main" id="{CD1F25F4-6354-5CBE-0EE3-E9713B1BB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ead6129809_0_90:notes">
            <a:extLst>
              <a:ext uri="{FF2B5EF4-FFF2-40B4-BE49-F238E27FC236}">
                <a16:creationId xmlns:a16="http://schemas.microsoft.com/office/drawing/2014/main" id="{47CAB01A-1BF7-24A8-DB10-11DA0B83CE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ead6129809_0_90:notes">
            <a:extLst>
              <a:ext uri="{FF2B5EF4-FFF2-40B4-BE49-F238E27FC236}">
                <a16:creationId xmlns:a16="http://schemas.microsoft.com/office/drawing/2014/main" id="{94D39CE7-2684-3620-60F0-A8A1B1BD0D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33462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>
          <a:extLst>
            <a:ext uri="{FF2B5EF4-FFF2-40B4-BE49-F238E27FC236}">
              <a16:creationId xmlns:a16="http://schemas.microsoft.com/office/drawing/2014/main" id="{C36EBF74-8C3C-9890-449E-E99D98AF0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ead6129809_0_90:notes">
            <a:extLst>
              <a:ext uri="{FF2B5EF4-FFF2-40B4-BE49-F238E27FC236}">
                <a16:creationId xmlns:a16="http://schemas.microsoft.com/office/drawing/2014/main" id="{7576DD44-6B27-6393-16CD-4101509C02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ead6129809_0_90:notes">
            <a:extLst>
              <a:ext uri="{FF2B5EF4-FFF2-40B4-BE49-F238E27FC236}">
                <a16:creationId xmlns:a16="http://schemas.microsoft.com/office/drawing/2014/main" id="{CF7B86AD-7193-4F6C-F5BC-320115675F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47210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>
          <a:extLst>
            <a:ext uri="{FF2B5EF4-FFF2-40B4-BE49-F238E27FC236}">
              <a16:creationId xmlns:a16="http://schemas.microsoft.com/office/drawing/2014/main" id="{B23611FA-37E0-F724-902D-CFD04A4EF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ead6129809_0_90:notes">
            <a:extLst>
              <a:ext uri="{FF2B5EF4-FFF2-40B4-BE49-F238E27FC236}">
                <a16:creationId xmlns:a16="http://schemas.microsoft.com/office/drawing/2014/main" id="{85C50B16-1348-A3E9-DC80-706B72DE99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ead6129809_0_90:notes">
            <a:extLst>
              <a:ext uri="{FF2B5EF4-FFF2-40B4-BE49-F238E27FC236}">
                <a16:creationId xmlns:a16="http://schemas.microsoft.com/office/drawing/2014/main" id="{049EC6CD-237A-B1E0-0E39-0CFC728CFD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28927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>
          <a:extLst>
            <a:ext uri="{FF2B5EF4-FFF2-40B4-BE49-F238E27FC236}">
              <a16:creationId xmlns:a16="http://schemas.microsoft.com/office/drawing/2014/main" id="{6D959EC3-A7C2-4432-391E-9D2C5984C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ead6129809_0_90:notes">
            <a:extLst>
              <a:ext uri="{FF2B5EF4-FFF2-40B4-BE49-F238E27FC236}">
                <a16:creationId xmlns:a16="http://schemas.microsoft.com/office/drawing/2014/main" id="{CD6D1AA0-45B2-43B1-76C5-EC18355A83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ead6129809_0_90:notes">
            <a:extLst>
              <a:ext uri="{FF2B5EF4-FFF2-40B4-BE49-F238E27FC236}">
                <a16:creationId xmlns:a16="http://schemas.microsoft.com/office/drawing/2014/main" id="{3EF4FD58-A41B-3BAC-0286-343C3BCD9C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06017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>
          <a:extLst>
            <a:ext uri="{FF2B5EF4-FFF2-40B4-BE49-F238E27FC236}">
              <a16:creationId xmlns:a16="http://schemas.microsoft.com/office/drawing/2014/main" id="{EEBD343A-7853-44D5-B9D1-024DD6984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ead6129809_0_90:notes">
            <a:extLst>
              <a:ext uri="{FF2B5EF4-FFF2-40B4-BE49-F238E27FC236}">
                <a16:creationId xmlns:a16="http://schemas.microsoft.com/office/drawing/2014/main" id="{7A607598-59BD-92D6-7EA3-9D49AB5D0E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ead6129809_0_90:notes">
            <a:extLst>
              <a:ext uri="{FF2B5EF4-FFF2-40B4-BE49-F238E27FC236}">
                <a16:creationId xmlns:a16="http://schemas.microsoft.com/office/drawing/2014/main" id="{B9FA6B25-5A03-11F1-105D-CB6E56D104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488331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>
          <a:extLst>
            <a:ext uri="{FF2B5EF4-FFF2-40B4-BE49-F238E27FC236}">
              <a16:creationId xmlns:a16="http://schemas.microsoft.com/office/drawing/2014/main" id="{7404E240-C991-8FC7-493B-EC45B7768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ead6129809_0_90:notes">
            <a:extLst>
              <a:ext uri="{FF2B5EF4-FFF2-40B4-BE49-F238E27FC236}">
                <a16:creationId xmlns:a16="http://schemas.microsoft.com/office/drawing/2014/main" id="{8F72B707-4EEC-43BB-C6A3-29FED0A06A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ead6129809_0_90:notes">
            <a:extLst>
              <a:ext uri="{FF2B5EF4-FFF2-40B4-BE49-F238E27FC236}">
                <a16:creationId xmlns:a16="http://schemas.microsoft.com/office/drawing/2014/main" id="{FC00591A-D35F-AC2D-0C01-71F1204C07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285764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>
          <a:extLst>
            <a:ext uri="{FF2B5EF4-FFF2-40B4-BE49-F238E27FC236}">
              <a16:creationId xmlns:a16="http://schemas.microsoft.com/office/drawing/2014/main" id="{0347530E-97E6-7854-A118-B032EF19D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ead6129809_0_90:notes">
            <a:extLst>
              <a:ext uri="{FF2B5EF4-FFF2-40B4-BE49-F238E27FC236}">
                <a16:creationId xmlns:a16="http://schemas.microsoft.com/office/drawing/2014/main" id="{6182941E-86DB-982A-1D23-AA733BE50C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ead6129809_0_90:notes">
            <a:extLst>
              <a:ext uri="{FF2B5EF4-FFF2-40B4-BE49-F238E27FC236}">
                <a16:creationId xmlns:a16="http://schemas.microsoft.com/office/drawing/2014/main" id="{0E5A5FCC-24E1-CB58-E0E0-0ECC3401D2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605879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gead6129809_0_4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2" name="Google Shape;1842;gead6129809_0_4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813319">
            <a:off x="-1616877" y="-342427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 rot="-649785" flipH="1">
            <a:off x="6475477" y="-738425"/>
            <a:ext cx="4558897" cy="1365861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1125387" y="2238100"/>
            <a:ext cx="7471673" cy="477180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8823147">
            <a:off x="-2265377" y="2808773"/>
            <a:ext cx="5990392" cy="5613180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6536238" y="-142500"/>
            <a:ext cx="4935815" cy="3769836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 rot="649785">
            <a:off x="716152" y="4401125"/>
            <a:ext cx="4558897" cy="1365861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AC9078">
              <a:alpha val="128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 rot="1244193">
            <a:off x="4086917" y="-777268"/>
            <a:ext cx="7826096" cy="287785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 rot="-9555807">
            <a:off x="-6119383" y="2297294"/>
            <a:ext cx="7826096" cy="287785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723150" y="1494200"/>
            <a:ext cx="7697700" cy="15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600">
                <a:latin typeface="Kulim Park SemiBold"/>
                <a:ea typeface="Kulim Park SemiBold"/>
                <a:cs typeface="Kulim Park SemiBold"/>
                <a:sym typeface="Kulim Park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962550" y="3100575"/>
            <a:ext cx="5218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 rot="813319">
            <a:off x="-704002" y="2342077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 rot="-5553048">
            <a:off x="-3421688" y="1600648"/>
            <a:ext cx="5990367" cy="5613156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rgbClr val="AC9078">
              <a:alpha val="72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/>
          <p:nvPr/>
        </p:nvSpPr>
        <p:spPr>
          <a:xfrm rot="-1460553" flipH="1">
            <a:off x="6702382" y="-661835"/>
            <a:ext cx="7471555" cy="4771732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4"/>
          <p:cNvSpPr/>
          <p:nvPr/>
        </p:nvSpPr>
        <p:spPr>
          <a:xfrm rot="3657786">
            <a:off x="7243056" y="893138"/>
            <a:ext cx="4558957" cy="1365879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4"/>
          <p:cNvSpPr/>
          <p:nvPr/>
        </p:nvSpPr>
        <p:spPr>
          <a:xfrm rot="3624623">
            <a:off x="5761668" y="608449"/>
            <a:ext cx="7826028" cy="2877832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720000" y="437700"/>
            <a:ext cx="77028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720000" y="1095450"/>
            <a:ext cx="7702800" cy="3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50"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 rot="3394465" flipH="1">
            <a:off x="3077084" y="3433218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6"/>
          <p:cNvSpPr/>
          <p:nvPr/>
        </p:nvSpPr>
        <p:spPr>
          <a:xfrm>
            <a:off x="5867027" y="-1243497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6"/>
          <p:cNvSpPr/>
          <p:nvPr/>
        </p:nvSpPr>
        <p:spPr>
          <a:xfrm rot="3952094">
            <a:off x="4978836" y="-32116"/>
            <a:ext cx="7826127" cy="287786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6"/>
          <p:cNvSpPr/>
          <p:nvPr/>
        </p:nvSpPr>
        <p:spPr>
          <a:xfrm rot="-649760" flipH="1">
            <a:off x="7075142" y="-713258"/>
            <a:ext cx="4974484" cy="1490372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6"/>
          <p:cNvSpPr/>
          <p:nvPr/>
        </p:nvSpPr>
        <p:spPr>
          <a:xfrm rot="813319">
            <a:off x="-2477752" y="-307432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6"/>
          <p:cNvSpPr/>
          <p:nvPr/>
        </p:nvSpPr>
        <p:spPr>
          <a:xfrm rot="-10285603">
            <a:off x="-4701904" y="3752842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6"/>
          <p:cNvSpPr/>
          <p:nvPr/>
        </p:nvSpPr>
        <p:spPr>
          <a:xfrm rot="-7426355">
            <a:off x="-5557542" y="1132830"/>
            <a:ext cx="7826046" cy="287783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6"/>
          <p:cNvSpPr txBox="1">
            <a:spLocks noGrp="1"/>
          </p:cNvSpPr>
          <p:nvPr>
            <p:ph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/>
          <p:nvPr/>
        </p:nvSpPr>
        <p:spPr>
          <a:xfrm rot="3394465" flipH="1">
            <a:off x="5041484" y="2286018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7"/>
          <p:cNvSpPr/>
          <p:nvPr/>
        </p:nvSpPr>
        <p:spPr>
          <a:xfrm rot="-10285603">
            <a:off x="7150321" y="-2266383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7"/>
          <p:cNvSpPr/>
          <p:nvPr/>
        </p:nvSpPr>
        <p:spPr>
          <a:xfrm rot="955394" flipH="1">
            <a:off x="1460861" y="-2197712"/>
            <a:ext cx="7826028" cy="2877832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body" idx="1"/>
          </p:nvPr>
        </p:nvSpPr>
        <p:spPr>
          <a:xfrm>
            <a:off x="4572000" y="1369325"/>
            <a:ext cx="3850500" cy="333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400"/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marL="1371600" lvl="2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1828800" lvl="3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2286000" lvl="4" indent="-330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5pPr>
            <a:lvl6pPr marL="2743200" lvl="5" indent="-330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/>
            </a:lvl6pPr>
            <a:lvl7pPr marL="3200400" lvl="6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3657600" lvl="7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4114800" lvl="8" indent="-3302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/>
          <p:nvPr/>
        </p:nvSpPr>
        <p:spPr>
          <a:xfrm rot="813319">
            <a:off x="-2477752" y="-307432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9"/>
          <p:cNvSpPr/>
          <p:nvPr/>
        </p:nvSpPr>
        <p:spPr>
          <a:xfrm rot="3394465" flipH="1">
            <a:off x="3077084" y="3433218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9"/>
          <p:cNvSpPr/>
          <p:nvPr/>
        </p:nvSpPr>
        <p:spPr>
          <a:xfrm>
            <a:off x="5867027" y="-1243497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9"/>
          <p:cNvSpPr/>
          <p:nvPr/>
        </p:nvSpPr>
        <p:spPr>
          <a:xfrm rot="3406877">
            <a:off x="3098060" y="-32126"/>
            <a:ext cx="7826090" cy="2877855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9"/>
          <p:cNvSpPr/>
          <p:nvPr/>
        </p:nvSpPr>
        <p:spPr>
          <a:xfrm rot="-649760" flipH="1">
            <a:off x="7075142" y="-713258"/>
            <a:ext cx="4974484" cy="1490372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9"/>
          <p:cNvSpPr/>
          <p:nvPr/>
        </p:nvSpPr>
        <p:spPr>
          <a:xfrm rot="-10285603">
            <a:off x="-4701904" y="3752842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9"/>
          <p:cNvSpPr/>
          <p:nvPr/>
        </p:nvSpPr>
        <p:spPr>
          <a:xfrm rot="-7426355">
            <a:off x="-5557542" y="1132830"/>
            <a:ext cx="7826046" cy="287783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title"/>
          </p:nvPr>
        </p:nvSpPr>
        <p:spPr>
          <a:xfrm>
            <a:off x="723300" y="1383125"/>
            <a:ext cx="4510500" cy="92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5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subTitle" idx="1"/>
          </p:nvPr>
        </p:nvSpPr>
        <p:spPr>
          <a:xfrm>
            <a:off x="723300" y="2328475"/>
            <a:ext cx="4359900" cy="14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/>
          <p:nvPr/>
        </p:nvSpPr>
        <p:spPr>
          <a:xfrm rot="9339447" flipH="1">
            <a:off x="-5157706" y="2195120"/>
            <a:ext cx="7471555" cy="4771732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1118566" y="1549193"/>
            <a:ext cx="1350837" cy="973145"/>
          </a:xfrm>
          <a:custGeom>
            <a:avLst/>
            <a:gdLst/>
            <a:ahLst/>
            <a:cxnLst/>
            <a:rect l="l" t="t" r="r" b="b"/>
            <a:pathLst>
              <a:path w="18827" h="13563" extrusionOk="0">
                <a:moveTo>
                  <a:pt x="7161" y="0"/>
                </a:moveTo>
                <a:cubicBezTo>
                  <a:pt x="6367" y="0"/>
                  <a:pt x="5745" y="97"/>
                  <a:pt x="5462" y="302"/>
                </a:cubicBezTo>
                <a:cubicBezTo>
                  <a:pt x="5439" y="302"/>
                  <a:pt x="5416" y="302"/>
                  <a:pt x="5393" y="302"/>
                </a:cubicBezTo>
                <a:cubicBezTo>
                  <a:pt x="1116" y="302"/>
                  <a:pt x="1" y="5785"/>
                  <a:pt x="370" y="9035"/>
                </a:cubicBezTo>
                <a:cubicBezTo>
                  <a:pt x="734" y="12239"/>
                  <a:pt x="5348" y="13486"/>
                  <a:pt x="7931" y="13560"/>
                </a:cubicBezTo>
                <a:cubicBezTo>
                  <a:pt x="7975" y="13562"/>
                  <a:pt x="8020" y="13562"/>
                  <a:pt x="8064" y="13562"/>
                </a:cubicBezTo>
                <a:cubicBezTo>
                  <a:pt x="13120" y="13562"/>
                  <a:pt x="18826" y="5169"/>
                  <a:pt x="13911" y="1714"/>
                </a:cubicBezTo>
                <a:cubicBezTo>
                  <a:pt x="12377" y="637"/>
                  <a:pt x="9200" y="0"/>
                  <a:pt x="7161" y="0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6"/>
          <p:cNvSpPr/>
          <p:nvPr/>
        </p:nvSpPr>
        <p:spPr>
          <a:xfrm flipH="1">
            <a:off x="4816263" y="1549200"/>
            <a:ext cx="1350837" cy="973145"/>
          </a:xfrm>
          <a:custGeom>
            <a:avLst/>
            <a:gdLst/>
            <a:ahLst/>
            <a:cxnLst/>
            <a:rect l="l" t="t" r="r" b="b"/>
            <a:pathLst>
              <a:path w="18827" h="13563" extrusionOk="0">
                <a:moveTo>
                  <a:pt x="7161" y="0"/>
                </a:moveTo>
                <a:cubicBezTo>
                  <a:pt x="6367" y="0"/>
                  <a:pt x="5745" y="97"/>
                  <a:pt x="5462" y="302"/>
                </a:cubicBezTo>
                <a:cubicBezTo>
                  <a:pt x="5439" y="302"/>
                  <a:pt x="5416" y="302"/>
                  <a:pt x="5393" y="302"/>
                </a:cubicBezTo>
                <a:cubicBezTo>
                  <a:pt x="1116" y="302"/>
                  <a:pt x="1" y="5785"/>
                  <a:pt x="370" y="9035"/>
                </a:cubicBezTo>
                <a:cubicBezTo>
                  <a:pt x="734" y="12239"/>
                  <a:pt x="5348" y="13486"/>
                  <a:pt x="7931" y="13560"/>
                </a:cubicBezTo>
                <a:cubicBezTo>
                  <a:pt x="7975" y="13562"/>
                  <a:pt x="8020" y="13562"/>
                  <a:pt x="8064" y="13562"/>
                </a:cubicBezTo>
                <a:cubicBezTo>
                  <a:pt x="13120" y="13562"/>
                  <a:pt x="18826" y="5169"/>
                  <a:pt x="13911" y="1714"/>
                </a:cubicBezTo>
                <a:cubicBezTo>
                  <a:pt x="12377" y="637"/>
                  <a:pt x="9200" y="0"/>
                  <a:pt x="7161" y="0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6"/>
          <p:cNvSpPr/>
          <p:nvPr/>
        </p:nvSpPr>
        <p:spPr>
          <a:xfrm flipH="1">
            <a:off x="6912085" y="1489537"/>
            <a:ext cx="1162249" cy="1032817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rgbClr val="AC9078">
              <a:alpha val="72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3050700" y="1519363"/>
            <a:ext cx="1095097" cy="973144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6"/>
          <p:cNvSpPr/>
          <p:nvPr/>
        </p:nvSpPr>
        <p:spPr>
          <a:xfrm rot="-10285603">
            <a:off x="7150321" y="-2266383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6"/>
          <p:cNvSpPr/>
          <p:nvPr/>
        </p:nvSpPr>
        <p:spPr>
          <a:xfrm rot="649785">
            <a:off x="6848027" y="-244025"/>
            <a:ext cx="4558897" cy="1365861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AC9078">
              <a:alpha val="128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6"/>
          <p:cNvSpPr/>
          <p:nvPr/>
        </p:nvSpPr>
        <p:spPr>
          <a:xfrm rot="813319">
            <a:off x="-4299402" y="-471752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6"/>
          <p:cNvSpPr/>
          <p:nvPr/>
        </p:nvSpPr>
        <p:spPr>
          <a:xfrm rot="9089871">
            <a:off x="7049951" y="1893780"/>
            <a:ext cx="7826200" cy="2877895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6"/>
          <p:cNvSpPr/>
          <p:nvPr/>
        </p:nvSpPr>
        <p:spPr>
          <a:xfrm rot="-576017">
            <a:off x="-4825529" y="-672274"/>
            <a:ext cx="7826074" cy="287784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6"/>
          <p:cNvSpPr txBox="1">
            <a:spLocks noGrp="1"/>
          </p:cNvSpPr>
          <p:nvPr>
            <p:ph type="title"/>
          </p:nvPr>
        </p:nvSpPr>
        <p:spPr>
          <a:xfrm>
            <a:off x="732775" y="2632300"/>
            <a:ext cx="18360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8" name="Google Shape;138;p16"/>
          <p:cNvSpPr txBox="1">
            <a:spLocks noGrp="1"/>
          </p:cNvSpPr>
          <p:nvPr>
            <p:ph type="subTitle" idx="1"/>
          </p:nvPr>
        </p:nvSpPr>
        <p:spPr>
          <a:xfrm>
            <a:off x="732787" y="3511716"/>
            <a:ext cx="1836000" cy="8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6"/>
          <p:cNvSpPr txBox="1">
            <a:spLocks noGrp="1"/>
          </p:cNvSpPr>
          <p:nvPr>
            <p:ph type="title" idx="2" hasCustomPrompt="1"/>
          </p:nvPr>
        </p:nvSpPr>
        <p:spPr>
          <a:xfrm>
            <a:off x="732776" y="1811839"/>
            <a:ext cx="18360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0" name="Google Shape;140;p16"/>
          <p:cNvSpPr txBox="1">
            <a:spLocks noGrp="1"/>
          </p:cNvSpPr>
          <p:nvPr>
            <p:ph type="title" idx="3"/>
          </p:nvPr>
        </p:nvSpPr>
        <p:spPr>
          <a:xfrm>
            <a:off x="2680250" y="2632300"/>
            <a:ext cx="18360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1" name="Google Shape;141;p16"/>
          <p:cNvSpPr txBox="1">
            <a:spLocks noGrp="1"/>
          </p:cNvSpPr>
          <p:nvPr>
            <p:ph type="subTitle" idx="4"/>
          </p:nvPr>
        </p:nvSpPr>
        <p:spPr>
          <a:xfrm>
            <a:off x="2680262" y="3511716"/>
            <a:ext cx="1836000" cy="8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6"/>
          <p:cNvSpPr txBox="1">
            <a:spLocks noGrp="1"/>
          </p:cNvSpPr>
          <p:nvPr>
            <p:ph type="title" idx="5"/>
          </p:nvPr>
        </p:nvSpPr>
        <p:spPr>
          <a:xfrm>
            <a:off x="4627725" y="2632300"/>
            <a:ext cx="18360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3" name="Google Shape;143;p16"/>
          <p:cNvSpPr txBox="1">
            <a:spLocks noGrp="1"/>
          </p:cNvSpPr>
          <p:nvPr>
            <p:ph type="subTitle" idx="6"/>
          </p:nvPr>
        </p:nvSpPr>
        <p:spPr>
          <a:xfrm>
            <a:off x="4627737" y="3511716"/>
            <a:ext cx="1836000" cy="8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16"/>
          <p:cNvSpPr txBox="1">
            <a:spLocks noGrp="1"/>
          </p:cNvSpPr>
          <p:nvPr>
            <p:ph type="title" idx="7"/>
          </p:nvPr>
        </p:nvSpPr>
        <p:spPr>
          <a:xfrm>
            <a:off x="6575200" y="2632300"/>
            <a:ext cx="18360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5" name="Google Shape;145;p16"/>
          <p:cNvSpPr txBox="1">
            <a:spLocks noGrp="1"/>
          </p:cNvSpPr>
          <p:nvPr>
            <p:ph type="subTitle" idx="8"/>
          </p:nvPr>
        </p:nvSpPr>
        <p:spPr>
          <a:xfrm>
            <a:off x="6575212" y="3511716"/>
            <a:ext cx="1836000" cy="8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6"/>
          <p:cNvSpPr txBox="1">
            <a:spLocks noGrp="1"/>
          </p:cNvSpPr>
          <p:nvPr>
            <p:ph type="title" idx="9" hasCustomPrompt="1"/>
          </p:nvPr>
        </p:nvSpPr>
        <p:spPr>
          <a:xfrm>
            <a:off x="2680246" y="1811839"/>
            <a:ext cx="18360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7" name="Google Shape;147;p16"/>
          <p:cNvSpPr txBox="1">
            <a:spLocks noGrp="1"/>
          </p:cNvSpPr>
          <p:nvPr>
            <p:ph type="title" idx="13" hasCustomPrompt="1"/>
          </p:nvPr>
        </p:nvSpPr>
        <p:spPr>
          <a:xfrm>
            <a:off x="4627721" y="1811839"/>
            <a:ext cx="18360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8" name="Google Shape;148;p16"/>
          <p:cNvSpPr txBox="1">
            <a:spLocks noGrp="1"/>
          </p:cNvSpPr>
          <p:nvPr>
            <p:ph type="title" idx="14" hasCustomPrompt="1"/>
          </p:nvPr>
        </p:nvSpPr>
        <p:spPr>
          <a:xfrm>
            <a:off x="6575196" y="1811839"/>
            <a:ext cx="18360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9" name="Google Shape;149;p16"/>
          <p:cNvSpPr txBox="1">
            <a:spLocks noGrp="1"/>
          </p:cNvSpPr>
          <p:nvPr>
            <p:ph type="title" idx="15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17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/>
          <p:nvPr/>
        </p:nvSpPr>
        <p:spPr>
          <a:xfrm rot="-9339447">
            <a:off x="7118442" y="3216520"/>
            <a:ext cx="7471555" cy="4771732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7"/>
          <p:cNvSpPr/>
          <p:nvPr/>
        </p:nvSpPr>
        <p:spPr>
          <a:xfrm rot="10285603" flipH="1">
            <a:off x="-6088365" y="-1617883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7"/>
          <p:cNvSpPr/>
          <p:nvPr/>
        </p:nvSpPr>
        <p:spPr>
          <a:xfrm rot="-649785" flipH="1">
            <a:off x="-1251909" y="-487200"/>
            <a:ext cx="4558897" cy="1365861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AC9078">
              <a:alpha val="128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7"/>
          <p:cNvSpPr/>
          <p:nvPr/>
        </p:nvSpPr>
        <p:spPr>
          <a:xfrm rot="-813319" flipH="1">
            <a:off x="7653159" y="-3566398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7"/>
          <p:cNvSpPr/>
          <p:nvPr/>
        </p:nvSpPr>
        <p:spPr>
          <a:xfrm rot="-9989847" flipH="1">
            <a:off x="-4910832" y="2960605"/>
            <a:ext cx="7826215" cy="2877900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7"/>
          <p:cNvSpPr/>
          <p:nvPr/>
        </p:nvSpPr>
        <p:spPr>
          <a:xfrm rot="-323977" flipH="1">
            <a:off x="6050295" y="-977077"/>
            <a:ext cx="7826148" cy="2877876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7"/>
          <p:cNvSpPr txBox="1">
            <a:spLocks noGrp="1"/>
          </p:cNvSpPr>
          <p:nvPr>
            <p:ph type="title"/>
          </p:nvPr>
        </p:nvSpPr>
        <p:spPr>
          <a:xfrm>
            <a:off x="1987675" y="1412700"/>
            <a:ext cx="24300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8" name="Google Shape;158;p17"/>
          <p:cNvSpPr txBox="1">
            <a:spLocks noGrp="1"/>
          </p:cNvSpPr>
          <p:nvPr>
            <p:ph type="subTitle" idx="1"/>
          </p:nvPr>
        </p:nvSpPr>
        <p:spPr>
          <a:xfrm>
            <a:off x="1987700" y="2292125"/>
            <a:ext cx="2430000" cy="6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7"/>
          <p:cNvSpPr txBox="1">
            <a:spLocks noGrp="1"/>
          </p:cNvSpPr>
          <p:nvPr>
            <p:ph type="title" idx="2" hasCustomPrompt="1"/>
          </p:nvPr>
        </p:nvSpPr>
        <p:spPr>
          <a:xfrm>
            <a:off x="845800" y="1888050"/>
            <a:ext cx="812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0" name="Google Shape;160;p17"/>
          <p:cNvSpPr txBox="1">
            <a:spLocks noGrp="1"/>
          </p:cNvSpPr>
          <p:nvPr>
            <p:ph type="title" idx="3"/>
          </p:nvPr>
        </p:nvSpPr>
        <p:spPr>
          <a:xfrm>
            <a:off x="1928100" y="3162748"/>
            <a:ext cx="24300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1" name="Google Shape;161;p17"/>
          <p:cNvSpPr txBox="1">
            <a:spLocks noGrp="1"/>
          </p:cNvSpPr>
          <p:nvPr>
            <p:ph type="subTitle" idx="4"/>
          </p:nvPr>
        </p:nvSpPr>
        <p:spPr>
          <a:xfrm>
            <a:off x="1928125" y="4042172"/>
            <a:ext cx="2430000" cy="6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7"/>
          <p:cNvSpPr txBox="1">
            <a:spLocks noGrp="1"/>
          </p:cNvSpPr>
          <p:nvPr>
            <p:ph type="title" idx="5"/>
          </p:nvPr>
        </p:nvSpPr>
        <p:spPr>
          <a:xfrm>
            <a:off x="6000750" y="1412688"/>
            <a:ext cx="24300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3" name="Google Shape;163;p17"/>
          <p:cNvSpPr txBox="1">
            <a:spLocks noGrp="1"/>
          </p:cNvSpPr>
          <p:nvPr>
            <p:ph type="subTitle" idx="6"/>
          </p:nvPr>
        </p:nvSpPr>
        <p:spPr>
          <a:xfrm>
            <a:off x="6000775" y="2292102"/>
            <a:ext cx="2430000" cy="6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17"/>
          <p:cNvSpPr txBox="1">
            <a:spLocks noGrp="1"/>
          </p:cNvSpPr>
          <p:nvPr>
            <p:ph type="title" idx="7"/>
          </p:nvPr>
        </p:nvSpPr>
        <p:spPr>
          <a:xfrm>
            <a:off x="5981196" y="3162738"/>
            <a:ext cx="24300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5" name="Google Shape;165;p17"/>
          <p:cNvSpPr txBox="1">
            <a:spLocks noGrp="1"/>
          </p:cNvSpPr>
          <p:nvPr>
            <p:ph type="subTitle" idx="8"/>
          </p:nvPr>
        </p:nvSpPr>
        <p:spPr>
          <a:xfrm>
            <a:off x="5981200" y="4042161"/>
            <a:ext cx="2430000" cy="6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17"/>
          <p:cNvSpPr txBox="1">
            <a:spLocks noGrp="1"/>
          </p:cNvSpPr>
          <p:nvPr>
            <p:ph type="title" idx="9" hasCustomPrompt="1"/>
          </p:nvPr>
        </p:nvSpPr>
        <p:spPr>
          <a:xfrm>
            <a:off x="845798" y="3644250"/>
            <a:ext cx="812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7" name="Google Shape;167;p17"/>
          <p:cNvSpPr txBox="1">
            <a:spLocks noGrp="1"/>
          </p:cNvSpPr>
          <p:nvPr>
            <p:ph type="title" idx="13" hasCustomPrompt="1"/>
          </p:nvPr>
        </p:nvSpPr>
        <p:spPr>
          <a:xfrm>
            <a:off x="4895098" y="1888050"/>
            <a:ext cx="812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8" name="Google Shape;168;p17"/>
          <p:cNvSpPr txBox="1">
            <a:spLocks noGrp="1"/>
          </p:cNvSpPr>
          <p:nvPr>
            <p:ph type="title" idx="14" hasCustomPrompt="1"/>
          </p:nvPr>
        </p:nvSpPr>
        <p:spPr>
          <a:xfrm>
            <a:off x="4895098" y="3644250"/>
            <a:ext cx="812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9" name="Google Shape;169;p17"/>
          <p:cNvSpPr txBox="1">
            <a:spLocks noGrp="1"/>
          </p:cNvSpPr>
          <p:nvPr>
            <p:ph type="title" idx="15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6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/>
          <p:nvPr/>
        </p:nvSpPr>
        <p:spPr>
          <a:xfrm rot="-3394465">
            <a:off x="-2929870" y="3433218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20"/>
          <p:cNvSpPr/>
          <p:nvPr/>
        </p:nvSpPr>
        <p:spPr>
          <a:xfrm flipH="1">
            <a:off x="-4081962" y="-1243497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20"/>
          <p:cNvSpPr/>
          <p:nvPr/>
        </p:nvSpPr>
        <p:spPr>
          <a:xfrm rot="-3952094" flipH="1">
            <a:off x="-3954406" y="-32116"/>
            <a:ext cx="7826127" cy="287786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20"/>
          <p:cNvSpPr/>
          <p:nvPr/>
        </p:nvSpPr>
        <p:spPr>
          <a:xfrm rot="649760">
            <a:off x="-3199069" y="-713258"/>
            <a:ext cx="4974484" cy="1490372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0"/>
          <p:cNvSpPr/>
          <p:nvPr/>
        </p:nvSpPr>
        <p:spPr>
          <a:xfrm rot="-813319" flipH="1">
            <a:off x="4926200" y="-307432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0"/>
          <p:cNvSpPr/>
          <p:nvPr/>
        </p:nvSpPr>
        <p:spPr>
          <a:xfrm rot="10285603" flipH="1">
            <a:off x="6080701" y="3752842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0"/>
          <p:cNvSpPr/>
          <p:nvPr/>
        </p:nvSpPr>
        <p:spPr>
          <a:xfrm rot="7426355" flipH="1">
            <a:off x="6582052" y="1132830"/>
            <a:ext cx="7826046" cy="287783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0"/>
          <p:cNvSpPr txBox="1">
            <a:spLocks noGrp="1"/>
          </p:cNvSpPr>
          <p:nvPr>
            <p:ph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5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"/>
          <p:cNvSpPr/>
          <p:nvPr/>
        </p:nvSpPr>
        <p:spPr>
          <a:xfrm rot="-10285629">
            <a:off x="5066449" y="-2124373"/>
            <a:ext cx="9471588" cy="6049060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3"/>
          <p:cNvSpPr/>
          <p:nvPr/>
        </p:nvSpPr>
        <p:spPr>
          <a:xfrm flipH="1">
            <a:off x="7942003" y="1004988"/>
            <a:ext cx="5766771" cy="368296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3"/>
          <p:cNvSpPr/>
          <p:nvPr/>
        </p:nvSpPr>
        <p:spPr>
          <a:xfrm rot="2839443">
            <a:off x="-308418" y="2442034"/>
            <a:ext cx="6402141" cy="5689181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3"/>
          <p:cNvSpPr/>
          <p:nvPr/>
        </p:nvSpPr>
        <p:spPr>
          <a:xfrm rot="9405665">
            <a:off x="-4305365" y="1281181"/>
            <a:ext cx="7310152" cy="6849835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3"/>
          <p:cNvSpPr/>
          <p:nvPr/>
        </p:nvSpPr>
        <p:spPr>
          <a:xfrm rot="-1478505">
            <a:off x="-2334601" y="-1000036"/>
            <a:ext cx="7826136" cy="2877871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3"/>
          <p:cNvSpPr/>
          <p:nvPr/>
        </p:nvSpPr>
        <p:spPr>
          <a:xfrm rot="9555841" flipH="1">
            <a:off x="7023452" y="1808506"/>
            <a:ext cx="8200942" cy="301569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23"/>
          <p:cNvSpPr txBox="1">
            <a:spLocks noGrp="1"/>
          </p:cNvSpPr>
          <p:nvPr>
            <p:ph type="title"/>
          </p:nvPr>
        </p:nvSpPr>
        <p:spPr>
          <a:xfrm>
            <a:off x="1749775" y="1339400"/>
            <a:ext cx="5644500" cy="153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1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3"/>
          <p:cNvSpPr txBox="1">
            <a:spLocks noGrp="1"/>
          </p:cNvSpPr>
          <p:nvPr>
            <p:ph type="subTitle" idx="1"/>
          </p:nvPr>
        </p:nvSpPr>
        <p:spPr>
          <a:xfrm>
            <a:off x="2153800" y="2874400"/>
            <a:ext cx="48369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8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"/>
          <p:cNvSpPr/>
          <p:nvPr/>
        </p:nvSpPr>
        <p:spPr>
          <a:xfrm rot="-3394465">
            <a:off x="-4398774" y="4211443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26"/>
          <p:cNvSpPr/>
          <p:nvPr/>
        </p:nvSpPr>
        <p:spPr>
          <a:xfrm flipH="1">
            <a:off x="-5015841" y="-1243497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6"/>
          <p:cNvSpPr/>
          <p:nvPr/>
        </p:nvSpPr>
        <p:spPr>
          <a:xfrm rot="-3952094" flipH="1">
            <a:off x="-4776410" y="665034"/>
            <a:ext cx="7826127" cy="287786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6"/>
          <p:cNvSpPr/>
          <p:nvPr/>
        </p:nvSpPr>
        <p:spPr>
          <a:xfrm rot="649760">
            <a:off x="-4213998" y="535117"/>
            <a:ext cx="4974484" cy="1490372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6"/>
          <p:cNvSpPr/>
          <p:nvPr/>
        </p:nvSpPr>
        <p:spPr>
          <a:xfrm rot="-813319" flipH="1">
            <a:off x="4527346" y="-3414798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26"/>
          <p:cNvSpPr/>
          <p:nvPr/>
        </p:nvSpPr>
        <p:spPr>
          <a:xfrm rot="10285603" flipH="1">
            <a:off x="4806347" y="3363742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26"/>
          <p:cNvSpPr/>
          <p:nvPr/>
        </p:nvSpPr>
        <p:spPr>
          <a:xfrm rot="5626330" flipH="1">
            <a:off x="3918525" y="675664"/>
            <a:ext cx="7826010" cy="2877825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26"/>
          <p:cNvSpPr txBox="1">
            <a:spLocks noGrp="1"/>
          </p:cNvSpPr>
          <p:nvPr>
            <p:ph type="body" idx="1"/>
          </p:nvPr>
        </p:nvSpPr>
        <p:spPr>
          <a:xfrm>
            <a:off x="1514900" y="1868725"/>
            <a:ext cx="3850500" cy="23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400"/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marL="1371600" lvl="2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1828800" lvl="3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2286000" lvl="4" indent="-330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5pPr>
            <a:lvl6pPr marL="2743200" lvl="5" indent="-330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/>
            </a:lvl6pPr>
            <a:lvl7pPr marL="3200400" lvl="6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3657600" lvl="7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4114800" lvl="8" indent="-3302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34" name="Google Shape;234;p26"/>
          <p:cNvSpPr txBox="1">
            <a:spLocks noGrp="1"/>
          </p:cNvSpPr>
          <p:nvPr>
            <p:ph type="title"/>
          </p:nvPr>
        </p:nvSpPr>
        <p:spPr>
          <a:xfrm>
            <a:off x="1514900" y="922175"/>
            <a:ext cx="48123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5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CUSTOM_31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3"/>
          <p:cNvSpPr/>
          <p:nvPr/>
        </p:nvSpPr>
        <p:spPr>
          <a:xfrm rot="-9940055">
            <a:off x="6313853" y="-2245551"/>
            <a:ext cx="4772748" cy="4241345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33"/>
          <p:cNvSpPr/>
          <p:nvPr/>
        </p:nvSpPr>
        <p:spPr>
          <a:xfrm rot="10800000" flipH="1">
            <a:off x="-4512131" y="0"/>
            <a:ext cx="5766771" cy="368296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33"/>
          <p:cNvSpPr/>
          <p:nvPr/>
        </p:nvSpPr>
        <p:spPr>
          <a:xfrm rot="405705">
            <a:off x="6781192" y="537430"/>
            <a:ext cx="7309974" cy="6849668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33"/>
          <p:cNvSpPr/>
          <p:nvPr/>
        </p:nvSpPr>
        <p:spPr>
          <a:xfrm rot="10221505">
            <a:off x="2162666" y="4072255"/>
            <a:ext cx="7826058" cy="2877843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33"/>
          <p:cNvSpPr/>
          <p:nvPr/>
        </p:nvSpPr>
        <p:spPr>
          <a:xfrm rot="1275851">
            <a:off x="-7113372" y="1815710"/>
            <a:ext cx="9471569" cy="604904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33"/>
          <p:cNvSpPr/>
          <p:nvPr/>
        </p:nvSpPr>
        <p:spPr>
          <a:xfrm rot="-1244159" flipH="1">
            <a:off x="-7039848" y="-79298"/>
            <a:ext cx="8200942" cy="301569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33"/>
          <p:cNvSpPr txBox="1">
            <a:spLocks noGrp="1"/>
          </p:cNvSpPr>
          <p:nvPr>
            <p:ph type="title"/>
          </p:nvPr>
        </p:nvSpPr>
        <p:spPr>
          <a:xfrm>
            <a:off x="2014775" y="1710525"/>
            <a:ext cx="51141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93" name="Google Shape;293;p33"/>
          <p:cNvSpPr txBox="1">
            <a:spLocks noGrp="1"/>
          </p:cNvSpPr>
          <p:nvPr>
            <p:ph type="subTitle" idx="1"/>
          </p:nvPr>
        </p:nvSpPr>
        <p:spPr>
          <a:xfrm>
            <a:off x="2014925" y="2255348"/>
            <a:ext cx="5114100" cy="6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33"/>
          <p:cNvSpPr txBox="1">
            <a:spLocks noGrp="1"/>
          </p:cNvSpPr>
          <p:nvPr>
            <p:ph type="title" idx="2"/>
          </p:nvPr>
        </p:nvSpPr>
        <p:spPr>
          <a:xfrm>
            <a:off x="2014780" y="3258850"/>
            <a:ext cx="51138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95" name="Google Shape;295;p33"/>
          <p:cNvSpPr txBox="1">
            <a:spLocks noGrp="1"/>
          </p:cNvSpPr>
          <p:nvPr>
            <p:ph type="subTitle" idx="3"/>
          </p:nvPr>
        </p:nvSpPr>
        <p:spPr>
          <a:xfrm>
            <a:off x="2015075" y="3803672"/>
            <a:ext cx="5113800" cy="6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33"/>
          <p:cNvSpPr txBox="1">
            <a:spLocks noGrp="1"/>
          </p:cNvSpPr>
          <p:nvPr>
            <p:ph type="title" idx="4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4"/>
          <p:cNvSpPr/>
          <p:nvPr/>
        </p:nvSpPr>
        <p:spPr>
          <a:xfrm rot="-10285629">
            <a:off x="6057524" y="-2124373"/>
            <a:ext cx="9471588" cy="6049060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34"/>
          <p:cNvSpPr/>
          <p:nvPr/>
        </p:nvSpPr>
        <p:spPr>
          <a:xfrm flipH="1">
            <a:off x="7942003" y="1004988"/>
            <a:ext cx="5766771" cy="368296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34"/>
          <p:cNvSpPr/>
          <p:nvPr/>
        </p:nvSpPr>
        <p:spPr>
          <a:xfrm rot="2839443">
            <a:off x="-308418" y="2442034"/>
            <a:ext cx="6402141" cy="5689181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34"/>
          <p:cNvSpPr/>
          <p:nvPr/>
        </p:nvSpPr>
        <p:spPr>
          <a:xfrm rot="9405665">
            <a:off x="-4880740" y="1281181"/>
            <a:ext cx="7310152" cy="6849835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34"/>
          <p:cNvSpPr/>
          <p:nvPr/>
        </p:nvSpPr>
        <p:spPr>
          <a:xfrm rot="-1478505">
            <a:off x="-2334601" y="-1000036"/>
            <a:ext cx="7826136" cy="2877871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34"/>
          <p:cNvSpPr/>
          <p:nvPr/>
        </p:nvSpPr>
        <p:spPr>
          <a:xfrm rot="9555841" flipH="1">
            <a:off x="7801702" y="1808506"/>
            <a:ext cx="8200942" cy="301569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34"/>
          <p:cNvSpPr txBox="1">
            <a:spLocks noGrp="1"/>
          </p:cNvSpPr>
          <p:nvPr>
            <p:ph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34"/>
          <p:cNvSpPr txBox="1">
            <a:spLocks noGrp="1"/>
          </p:cNvSpPr>
          <p:nvPr>
            <p:ph type="title" idx="2"/>
          </p:nvPr>
        </p:nvSpPr>
        <p:spPr>
          <a:xfrm>
            <a:off x="1164025" y="1617575"/>
            <a:ext cx="20457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06" name="Google Shape;306;p34"/>
          <p:cNvSpPr txBox="1">
            <a:spLocks noGrp="1"/>
          </p:cNvSpPr>
          <p:nvPr>
            <p:ph type="subTitle" idx="1"/>
          </p:nvPr>
        </p:nvSpPr>
        <p:spPr>
          <a:xfrm>
            <a:off x="1164075" y="2151959"/>
            <a:ext cx="2045700" cy="9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34"/>
          <p:cNvSpPr txBox="1">
            <a:spLocks noGrp="1"/>
          </p:cNvSpPr>
          <p:nvPr>
            <p:ph type="title" idx="3"/>
          </p:nvPr>
        </p:nvSpPr>
        <p:spPr>
          <a:xfrm>
            <a:off x="3549063" y="1617575"/>
            <a:ext cx="20457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08" name="Google Shape;308;p34"/>
          <p:cNvSpPr txBox="1">
            <a:spLocks noGrp="1"/>
          </p:cNvSpPr>
          <p:nvPr>
            <p:ph type="subTitle" idx="4"/>
          </p:nvPr>
        </p:nvSpPr>
        <p:spPr>
          <a:xfrm>
            <a:off x="3549150" y="2151959"/>
            <a:ext cx="2045700" cy="9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34"/>
          <p:cNvSpPr txBox="1">
            <a:spLocks noGrp="1"/>
          </p:cNvSpPr>
          <p:nvPr>
            <p:ph type="title" idx="5"/>
          </p:nvPr>
        </p:nvSpPr>
        <p:spPr>
          <a:xfrm>
            <a:off x="5934100" y="1617575"/>
            <a:ext cx="20457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10" name="Google Shape;310;p34"/>
          <p:cNvSpPr txBox="1">
            <a:spLocks noGrp="1"/>
          </p:cNvSpPr>
          <p:nvPr>
            <p:ph type="subTitle" idx="6"/>
          </p:nvPr>
        </p:nvSpPr>
        <p:spPr>
          <a:xfrm>
            <a:off x="5934225" y="2151959"/>
            <a:ext cx="2045700" cy="9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34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6"/>
          <p:cNvSpPr txBox="1">
            <a:spLocks noGrp="1"/>
          </p:cNvSpPr>
          <p:nvPr>
            <p:ph type="title"/>
          </p:nvPr>
        </p:nvSpPr>
        <p:spPr>
          <a:xfrm>
            <a:off x="2077025" y="1518376"/>
            <a:ext cx="18150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27" name="Google Shape;327;p36"/>
          <p:cNvSpPr txBox="1">
            <a:spLocks noGrp="1"/>
          </p:cNvSpPr>
          <p:nvPr>
            <p:ph type="subTitle" idx="1"/>
          </p:nvPr>
        </p:nvSpPr>
        <p:spPr>
          <a:xfrm>
            <a:off x="2077175" y="2063201"/>
            <a:ext cx="5909100" cy="4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28" name="Google Shape;328;p36"/>
          <p:cNvSpPr txBox="1">
            <a:spLocks noGrp="1"/>
          </p:cNvSpPr>
          <p:nvPr>
            <p:ph type="title" idx="2"/>
          </p:nvPr>
        </p:nvSpPr>
        <p:spPr>
          <a:xfrm>
            <a:off x="2077027" y="2577126"/>
            <a:ext cx="18150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29" name="Google Shape;329;p36"/>
          <p:cNvSpPr txBox="1">
            <a:spLocks noGrp="1"/>
          </p:cNvSpPr>
          <p:nvPr>
            <p:ph type="subTitle" idx="3"/>
          </p:nvPr>
        </p:nvSpPr>
        <p:spPr>
          <a:xfrm>
            <a:off x="2077350" y="3121951"/>
            <a:ext cx="5908800" cy="4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30" name="Google Shape;330;p36"/>
          <p:cNvSpPr txBox="1">
            <a:spLocks noGrp="1"/>
          </p:cNvSpPr>
          <p:nvPr>
            <p:ph type="title" idx="4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p36"/>
          <p:cNvSpPr/>
          <p:nvPr/>
        </p:nvSpPr>
        <p:spPr>
          <a:xfrm rot="10285629" flipH="1">
            <a:off x="-6531342" y="-2121798"/>
            <a:ext cx="9471588" cy="6049060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36"/>
          <p:cNvSpPr/>
          <p:nvPr/>
        </p:nvSpPr>
        <p:spPr>
          <a:xfrm>
            <a:off x="-4516430" y="1004988"/>
            <a:ext cx="5766771" cy="368296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36"/>
          <p:cNvSpPr/>
          <p:nvPr/>
        </p:nvSpPr>
        <p:spPr>
          <a:xfrm rot="-2839443" flipH="1">
            <a:off x="877472" y="3220259"/>
            <a:ext cx="6402141" cy="5689181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36"/>
          <p:cNvSpPr/>
          <p:nvPr/>
        </p:nvSpPr>
        <p:spPr>
          <a:xfrm rot="-10305679" flipH="1">
            <a:off x="6411091" y="301976"/>
            <a:ext cx="7310080" cy="6849767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36"/>
          <p:cNvSpPr/>
          <p:nvPr/>
        </p:nvSpPr>
        <p:spPr>
          <a:xfrm rot="3278516" flipH="1">
            <a:off x="4649136" y="-366101"/>
            <a:ext cx="7826271" cy="2877921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36"/>
          <p:cNvSpPr/>
          <p:nvPr/>
        </p:nvSpPr>
        <p:spPr>
          <a:xfrm rot="-9555841">
            <a:off x="-6466450" y="2570506"/>
            <a:ext cx="8200942" cy="301569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36"/>
          <p:cNvSpPr txBox="1">
            <a:spLocks noGrp="1"/>
          </p:cNvSpPr>
          <p:nvPr>
            <p:ph type="title" idx="5"/>
          </p:nvPr>
        </p:nvSpPr>
        <p:spPr>
          <a:xfrm>
            <a:off x="2077027" y="3635876"/>
            <a:ext cx="18150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38" name="Google Shape;338;p36"/>
          <p:cNvSpPr txBox="1">
            <a:spLocks noGrp="1"/>
          </p:cNvSpPr>
          <p:nvPr>
            <p:ph type="subTitle" idx="6"/>
          </p:nvPr>
        </p:nvSpPr>
        <p:spPr>
          <a:xfrm>
            <a:off x="2077350" y="4180701"/>
            <a:ext cx="5908800" cy="4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CUSTOM_24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9"/>
          <p:cNvSpPr/>
          <p:nvPr/>
        </p:nvSpPr>
        <p:spPr>
          <a:xfrm rot="-4102360">
            <a:off x="4113422" y="4765435"/>
            <a:ext cx="7471578" cy="477174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39"/>
          <p:cNvSpPr/>
          <p:nvPr/>
        </p:nvSpPr>
        <p:spPr>
          <a:xfrm rot="-813319" flipH="1">
            <a:off x="7043160" y="-1608948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66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39"/>
          <p:cNvSpPr/>
          <p:nvPr/>
        </p:nvSpPr>
        <p:spPr>
          <a:xfrm rot="-3394465">
            <a:off x="-4084285" y="3360168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39"/>
          <p:cNvSpPr/>
          <p:nvPr/>
        </p:nvSpPr>
        <p:spPr>
          <a:xfrm rot="10285603" flipH="1">
            <a:off x="-4881689" y="-1508408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39"/>
          <p:cNvSpPr/>
          <p:nvPr/>
        </p:nvSpPr>
        <p:spPr>
          <a:xfrm rot="6738480" flipH="1">
            <a:off x="5484634" y="1473878"/>
            <a:ext cx="7826261" cy="287791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39"/>
          <p:cNvSpPr txBox="1">
            <a:spLocks noGrp="1"/>
          </p:cNvSpPr>
          <p:nvPr>
            <p:ph type="title"/>
          </p:nvPr>
        </p:nvSpPr>
        <p:spPr>
          <a:xfrm>
            <a:off x="4633263" y="2692525"/>
            <a:ext cx="17886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69" name="Google Shape;369;p39"/>
          <p:cNvSpPr txBox="1">
            <a:spLocks noGrp="1"/>
          </p:cNvSpPr>
          <p:nvPr>
            <p:ph type="subTitle" idx="1"/>
          </p:nvPr>
        </p:nvSpPr>
        <p:spPr>
          <a:xfrm>
            <a:off x="4633297" y="3124400"/>
            <a:ext cx="1788600" cy="84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70" name="Google Shape;370;p39"/>
          <p:cNvSpPr txBox="1">
            <a:spLocks noGrp="1"/>
          </p:cNvSpPr>
          <p:nvPr>
            <p:ph type="title" idx="2"/>
          </p:nvPr>
        </p:nvSpPr>
        <p:spPr>
          <a:xfrm>
            <a:off x="6544613" y="2692525"/>
            <a:ext cx="17886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71" name="Google Shape;371;p39"/>
          <p:cNvSpPr txBox="1">
            <a:spLocks noGrp="1"/>
          </p:cNvSpPr>
          <p:nvPr>
            <p:ph type="subTitle" idx="3"/>
          </p:nvPr>
        </p:nvSpPr>
        <p:spPr>
          <a:xfrm>
            <a:off x="6544625" y="3124400"/>
            <a:ext cx="1788600" cy="84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72" name="Google Shape;372;p39"/>
          <p:cNvSpPr txBox="1">
            <a:spLocks noGrp="1"/>
          </p:cNvSpPr>
          <p:nvPr>
            <p:ph type="title" idx="4"/>
          </p:nvPr>
        </p:nvSpPr>
        <p:spPr>
          <a:xfrm>
            <a:off x="2721863" y="2692525"/>
            <a:ext cx="17886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73" name="Google Shape;373;p39"/>
          <p:cNvSpPr txBox="1">
            <a:spLocks noGrp="1"/>
          </p:cNvSpPr>
          <p:nvPr>
            <p:ph type="subTitle" idx="5"/>
          </p:nvPr>
        </p:nvSpPr>
        <p:spPr>
          <a:xfrm>
            <a:off x="2722019" y="3124400"/>
            <a:ext cx="1788600" cy="84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39"/>
          <p:cNvSpPr txBox="1">
            <a:spLocks noGrp="1"/>
          </p:cNvSpPr>
          <p:nvPr>
            <p:ph type="title" idx="6"/>
          </p:nvPr>
        </p:nvSpPr>
        <p:spPr>
          <a:xfrm>
            <a:off x="810613" y="2692525"/>
            <a:ext cx="17886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75" name="Google Shape;375;p39"/>
          <p:cNvSpPr txBox="1">
            <a:spLocks noGrp="1"/>
          </p:cNvSpPr>
          <p:nvPr>
            <p:ph type="subTitle" idx="7"/>
          </p:nvPr>
        </p:nvSpPr>
        <p:spPr>
          <a:xfrm>
            <a:off x="810750" y="3124400"/>
            <a:ext cx="1788600" cy="84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76" name="Google Shape;376;p39"/>
          <p:cNvSpPr txBox="1">
            <a:spLocks noGrp="1"/>
          </p:cNvSpPr>
          <p:nvPr>
            <p:ph type="title" idx="8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8"/>
          <p:cNvSpPr/>
          <p:nvPr/>
        </p:nvSpPr>
        <p:spPr>
          <a:xfrm rot="-10285629">
            <a:off x="4140874" y="-2015123"/>
            <a:ext cx="9471588" cy="6049060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48"/>
          <p:cNvSpPr/>
          <p:nvPr/>
        </p:nvSpPr>
        <p:spPr>
          <a:xfrm flipH="1">
            <a:off x="6818628" y="2586663"/>
            <a:ext cx="5766771" cy="368296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48"/>
          <p:cNvSpPr/>
          <p:nvPr/>
        </p:nvSpPr>
        <p:spPr>
          <a:xfrm rot="9748587" flipH="1">
            <a:off x="5601527" y="2021265"/>
            <a:ext cx="8200944" cy="301569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48"/>
          <p:cNvSpPr/>
          <p:nvPr/>
        </p:nvSpPr>
        <p:spPr>
          <a:xfrm rot="4102346" flipH="1">
            <a:off x="-2270967" y="3805847"/>
            <a:ext cx="9416338" cy="601377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48"/>
          <p:cNvSpPr/>
          <p:nvPr/>
        </p:nvSpPr>
        <p:spPr>
          <a:xfrm rot="813319">
            <a:off x="-3580677" y="-142572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48"/>
          <p:cNvSpPr/>
          <p:nvPr/>
        </p:nvSpPr>
        <p:spPr>
          <a:xfrm>
            <a:off x="3065327" y="-4200997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9"/>
          <p:cNvSpPr/>
          <p:nvPr/>
        </p:nvSpPr>
        <p:spPr>
          <a:xfrm rot="4102360" flipH="1">
            <a:off x="-2512533" y="4030635"/>
            <a:ext cx="7471578" cy="477174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49"/>
          <p:cNvSpPr/>
          <p:nvPr/>
        </p:nvSpPr>
        <p:spPr>
          <a:xfrm rot="813319">
            <a:off x="-4129602" y="-173702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66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49"/>
          <p:cNvSpPr/>
          <p:nvPr/>
        </p:nvSpPr>
        <p:spPr>
          <a:xfrm rot="3394465" flipH="1">
            <a:off x="5593334" y="2171418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49"/>
          <p:cNvSpPr/>
          <p:nvPr/>
        </p:nvSpPr>
        <p:spPr>
          <a:xfrm rot="-10285603">
            <a:off x="6336471" y="-2917283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49"/>
          <p:cNvSpPr/>
          <p:nvPr/>
        </p:nvSpPr>
        <p:spPr>
          <a:xfrm rot="-2238616">
            <a:off x="-4635728" y="470344"/>
            <a:ext cx="7826078" cy="2877850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36"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0"/>
          <p:cNvSpPr/>
          <p:nvPr/>
        </p:nvSpPr>
        <p:spPr>
          <a:xfrm rot="813319">
            <a:off x="-1121291" y="-342427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50"/>
          <p:cNvSpPr/>
          <p:nvPr/>
        </p:nvSpPr>
        <p:spPr>
          <a:xfrm rot="-649785" flipH="1">
            <a:off x="6971064" y="-738425"/>
            <a:ext cx="4558897" cy="1365861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50"/>
          <p:cNvSpPr/>
          <p:nvPr/>
        </p:nvSpPr>
        <p:spPr>
          <a:xfrm>
            <a:off x="1620973" y="2238100"/>
            <a:ext cx="7471673" cy="477180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50"/>
          <p:cNvSpPr/>
          <p:nvPr/>
        </p:nvSpPr>
        <p:spPr>
          <a:xfrm rot="8823147">
            <a:off x="-2081090" y="2808773"/>
            <a:ext cx="5990392" cy="5613180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50"/>
          <p:cNvSpPr/>
          <p:nvPr/>
        </p:nvSpPr>
        <p:spPr>
          <a:xfrm rot="-8100000">
            <a:off x="7300672" y="494176"/>
            <a:ext cx="4935837" cy="3769884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50"/>
          <p:cNvSpPr/>
          <p:nvPr/>
        </p:nvSpPr>
        <p:spPr>
          <a:xfrm rot="649785">
            <a:off x="1211739" y="4401125"/>
            <a:ext cx="4558897" cy="1365861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AC9078">
              <a:alpha val="128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50"/>
          <p:cNvSpPr/>
          <p:nvPr/>
        </p:nvSpPr>
        <p:spPr>
          <a:xfrm rot="2128845">
            <a:off x="3591964" y="-1767729"/>
            <a:ext cx="7826192" cy="2877892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50"/>
          <p:cNvSpPr/>
          <p:nvPr/>
        </p:nvSpPr>
        <p:spPr>
          <a:xfrm rot="-9555807">
            <a:off x="-5772621" y="2297294"/>
            <a:ext cx="7826096" cy="287785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7"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1"/>
          <p:cNvSpPr/>
          <p:nvPr/>
        </p:nvSpPr>
        <p:spPr>
          <a:xfrm rot="-7405535" flipH="1">
            <a:off x="-3234670" y="-3952493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51"/>
          <p:cNvSpPr/>
          <p:nvPr/>
        </p:nvSpPr>
        <p:spPr>
          <a:xfrm rot="10800000">
            <a:off x="-4386762" y="886054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51"/>
          <p:cNvSpPr/>
          <p:nvPr/>
        </p:nvSpPr>
        <p:spPr>
          <a:xfrm rot="-6847906">
            <a:off x="-4259206" y="2193197"/>
            <a:ext cx="7826127" cy="287786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51"/>
          <p:cNvSpPr/>
          <p:nvPr/>
        </p:nvSpPr>
        <p:spPr>
          <a:xfrm rot="10150240" flipH="1">
            <a:off x="-3503869" y="4261834"/>
            <a:ext cx="4974484" cy="1490372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51"/>
          <p:cNvSpPr/>
          <p:nvPr/>
        </p:nvSpPr>
        <p:spPr>
          <a:xfrm rot="-9986681">
            <a:off x="4621400" y="2424119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51"/>
          <p:cNvSpPr/>
          <p:nvPr/>
        </p:nvSpPr>
        <p:spPr>
          <a:xfrm rot="514397">
            <a:off x="5775901" y="-3485758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51"/>
          <p:cNvSpPr/>
          <p:nvPr/>
        </p:nvSpPr>
        <p:spPr>
          <a:xfrm rot="3373645">
            <a:off x="6277252" y="1028280"/>
            <a:ext cx="7826046" cy="287783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9299" y="1403349"/>
            <a:ext cx="5111752" cy="1136650"/>
          </a:xfrm>
        </p:spPr>
        <p:txBody>
          <a:bodyPr anchor="b">
            <a:noAutofit/>
          </a:bodyPr>
          <a:lstStyle>
            <a:lvl1pPr algn="ctr">
              <a:defRPr sz="405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9299" y="2743198"/>
            <a:ext cx="5111752" cy="990601"/>
          </a:xfrm>
        </p:spPr>
        <p:txBody>
          <a:bodyPr anchor="t">
            <a:normAutofit/>
          </a:bodyPr>
          <a:lstStyle>
            <a:lvl1pPr marL="0" indent="0" algn="ct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87424" y="3778248"/>
            <a:ext cx="673100" cy="209550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9298" y="3778248"/>
            <a:ext cx="3910976" cy="2095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17676" y="3778248"/>
            <a:ext cx="413375" cy="209550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300" y="2641598"/>
            <a:ext cx="5111751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4034648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047127" y="1816099"/>
            <a:ext cx="7055474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462363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302" y="1314455"/>
            <a:ext cx="6119016" cy="1366886"/>
          </a:xfrm>
        </p:spPr>
        <p:txBody>
          <a:bodyPr anchor="b">
            <a:normAutofit/>
          </a:bodyPr>
          <a:lstStyle>
            <a:lvl1pPr algn="ctr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300" y="2884539"/>
            <a:ext cx="6119018" cy="71591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509543" y="2782939"/>
            <a:ext cx="6122535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1136625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047127" y="1816099"/>
            <a:ext cx="705547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3837" y="1920240"/>
            <a:ext cx="3538728" cy="248259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6009" y="1920240"/>
            <a:ext cx="3538728" cy="248259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07707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1993900"/>
            <a:ext cx="3538728" cy="432196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1550" y="2432447"/>
            <a:ext cx="3538728" cy="1974454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35504" y="1993900"/>
            <a:ext cx="3538728" cy="432196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35504" y="2432447"/>
            <a:ext cx="3538728" cy="1974454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047127" y="1816099"/>
            <a:ext cx="705547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338967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1816099"/>
            <a:ext cx="705547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7019242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927800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0359" y="1041401"/>
            <a:ext cx="2788841" cy="1028700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2" y="736599"/>
            <a:ext cx="4102099" cy="3670301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0359" y="2273299"/>
            <a:ext cx="2788841" cy="1828803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047127" y="2184400"/>
            <a:ext cx="263587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370146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0" y="1412874"/>
            <a:ext cx="4681362" cy="1028700"/>
          </a:xfrm>
        </p:spPr>
        <p:txBody>
          <a:bodyPr anchor="b">
            <a:normAutofit/>
          </a:bodyPr>
          <a:lstStyle>
            <a:lvl1pPr algn="ctr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71124" y="781050"/>
            <a:ext cx="2297510" cy="35814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50" y="2441574"/>
            <a:ext cx="4681362" cy="1371600"/>
          </a:xfrm>
        </p:spPr>
        <p:txBody>
          <a:bodyPr anchor="t"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244143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3611561"/>
            <a:ext cx="7207249" cy="425054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1071" y="781050"/>
            <a:ext cx="7579479" cy="2501902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51" y="4036615"/>
            <a:ext cx="7207249" cy="370284"/>
          </a:xfrm>
        </p:spPr>
        <p:txBody>
          <a:bodyPr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410626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7901" y="736599"/>
            <a:ext cx="7194549" cy="2216151"/>
          </a:xfrm>
        </p:spPr>
        <p:txBody>
          <a:bodyPr anchor="ctr">
            <a:normAutofit/>
          </a:bodyPr>
          <a:lstStyle>
            <a:lvl1pPr algn="ctr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7901" y="3257550"/>
            <a:ext cx="7194549" cy="11493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3105149"/>
            <a:ext cx="705547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9820443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736599"/>
            <a:ext cx="6972299" cy="1778001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110" y="2514600"/>
            <a:ext cx="6629401" cy="43815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5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257550"/>
            <a:ext cx="7207249" cy="11493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46510" y="65997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0200" y="212090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047127" y="3105149"/>
            <a:ext cx="705547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5697025"/>
      </p:ext>
    </p:extLst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2481436"/>
            <a:ext cx="7207251" cy="1101600"/>
          </a:xfrm>
        </p:spPr>
        <p:txBody>
          <a:bodyPr anchor="b">
            <a:normAutofit/>
          </a:bodyPr>
          <a:lstStyle>
            <a:lvl1pPr algn="l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3036"/>
            <a:ext cx="7207251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86530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736599"/>
            <a:ext cx="6972299" cy="1682751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971551" y="2729484"/>
            <a:ext cx="7207251" cy="66522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397250"/>
            <a:ext cx="7207251" cy="10096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46510" y="65997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0200" y="1949446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047127" y="2571750"/>
            <a:ext cx="705547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7453979"/>
      </p:ext>
    </p:extLst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736599"/>
            <a:ext cx="7207249" cy="1682751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971551" y="2722626"/>
            <a:ext cx="7207251" cy="63093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1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3352800"/>
            <a:ext cx="7207253" cy="10541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2571750"/>
            <a:ext cx="705547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1414483"/>
      </p:ext>
    </p:extLst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1816099"/>
            <a:ext cx="705547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82968"/>
      </p:ext>
    </p:extLst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9518" y="736599"/>
            <a:ext cx="1418171" cy="3670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1549" y="736599"/>
            <a:ext cx="5574769" cy="36703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6647918" y="742950"/>
            <a:ext cx="0" cy="36576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0667859"/>
      </p:ext>
    </p:extLst>
  </p:cSld>
  <p:clrMapOvr>
    <a:masterClrMapping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2637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1075" y="438900"/>
            <a:ext cx="7698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1075" y="1351868"/>
            <a:ext cx="7701900" cy="32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●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○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■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●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○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■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●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○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■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3" r:id="rId4"/>
    <p:sldLayoutId id="2147483655" r:id="rId5"/>
    <p:sldLayoutId id="2147483658" r:id="rId6"/>
    <p:sldLayoutId id="2147483662" r:id="rId7"/>
    <p:sldLayoutId id="2147483663" r:id="rId8"/>
    <p:sldLayoutId id="2147483666" r:id="rId9"/>
    <p:sldLayoutId id="2147483669" r:id="rId10"/>
    <p:sldLayoutId id="2147483672" r:id="rId11"/>
    <p:sldLayoutId id="2147483679" r:id="rId12"/>
    <p:sldLayoutId id="2147483680" r:id="rId13"/>
    <p:sldLayoutId id="2147483682" r:id="rId14"/>
    <p:sldLayoutId id="2147483685" r:id="rId15"/>
    <p:sldLayoutId id="2147483694" r:id="rId16"/>
    <p:sldLayoutId id="2147483695" r:id="rId17"/>
    <p:sldLayoutId id="2147483696" r:id="rId18"/>
    <p:sldLayoutId id="2147483697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1619" cy="514216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71552" y="736599"/>
            <a:ext cx="7200897" cy="9779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1917700"/>
            <a:ext cx="7200897" cy="24892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08126" y="4476750"/>
            <a:ext cx="1200150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71551" y="4476750"/>
            <a:ext cx="5479425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5426" y="4476750"/>
            <a:ext cx="407023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604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3" r:id="rId18"/>
  </p:sldLayoutIdLst>
  <p:hf sldNum="0" hdr="0" ftr="0" dt="0"/>
  <p:txStyles>
    <p:titleStyle>
      <a:lvl1pPr algn="ctr" defTabSz="342900" rtl="0" eaLnBrk="1" latinLnBrk="0" hangingPunct="1">
        <a:spcBef>
          <a:spcPct val="0"/>
        </a:spcBef>
        <a:buNone/>
        <a:defRPr sz="33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5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3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2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7AB4FF9-8FD0-DFD3-E32B-8721B913144C}"/>
              </a:ext>
            </a:extLst>
          </p:cNvPr>
          <p:cNvSpPr txBox="1">
            <a:spLocks/>
          </p:cNvSpPr>
          <p:nvPr/>
        </p:nvSpPr>
        <p:spPr>
          <a:xfrm>
            <a:off x="983719" y="412183"/>
            <a:ext cx="6829390" cy="143540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571500">
              <a:buClrTx/>
            </a:pPr>
            <a:r>
              <a:rPr lang="en-US" sz="3000" b="1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FAST National University of Computer and Emerging Sciences, Islamabad </a:t>
            </a:r>
          </a:p>
        </p:txBody>
      </p:sp>
      <p:pic>
        <p:nvPicPr>
          <p:cNvPr id="5" name="Picture 4" descr="A blue circle with black text&#10;&#10;Description automatically generated">
            <a:extLst>
              <a:ext uri="{FF2B5EF4-FFF2-40B4-BE49-F238E27FC236}">
                <a16:creationId xmlns:a16="http://schemas.microsoft.com/office/drawing/2014/main" id="{0F7707D2-DE84-1A6C-6647-3938E6CF62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5084" y="1610267"/>
            <a:ext cx="1299009" cy="1299009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F0BC0B79-1083-E082-B420-29C284B2732D}"/>
              </a:ext>
            </a:extLst>
          </p:cNvPr>
          <p:cNvSpPr txBox="1">
            <a:spLocks/>
          </p:cNvSpPr>
          <p:nvPr/>
        </p:nvSpPr>
        <p:spPr>
          <a:xfrm>
            <a:off x="1714500" y="3295912"/>
            <a:ext cx="5715000" cy="103485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571500">
              <a:buClrTx/>
              <a:buNone/>
            </a:pPr>
            <a:r>
              <a:rPr lang="en-US" sz="2000" dirty="0">
                <a:solidFill>
                  <a:prstClr val="black"/>
                </a:solidFill>
                <a:latin typeface="Garamond" panose="02020404030301010803"/>
              </a:rPr>
              <a:t>Civics and Community Engagement</a:t>
            </a:r>
          </a:p>
        </p:txBody>
      </p:sp>
    </p:spTree>
    <p:extLst>
      <p:ext uri="{BB962C8B-B14F-4D97-AF65-F5344CB8AC3E}">
        <p14:creationId xmlns:p14="http://schemas.microsoft.com/office/powerpoint/2010/main" val="349847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7"/>
          <p:cNvSpPr txBox="1">
            <a:spLocks noGrp="1"/>
          </p:cNvSpPr>
          <p:nvPr>
            <p:ph type="ctrTitle"/>
          </p:nvPr>
        </p:nvSpPr>
        <p:spPr>
          <a:xfrm>
            <a:off x="723150" y="1494199"/>
            <a:ext cx="7697700" cy="255401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solidFill>
                  <a:schemeClr val="bg1"/>
                </a:solidFill>
                <a:latin typeface="Times New Roman" panose="02020603050405020304" pitchFamily="18" charset="0"/>
                <a:ea typeface="Kulim Park"/>
                <a:cs typeface="Times New Roman" panose="02020603050405020304" pitchFamily="18" charset="0"/>
                <a:sym typeface="Kulim Park"/>
              </a:rPr>
              <a:t>Understanding Diversity &amp; Social Inequality</a:t>
            </a:r>
            <a:endParaRPr sz="3600" dirty="0">
              <a:solidFill>
                <a:schemeClr val="bg1"/>
              </a:solidFill>
              <a:latin typeface="Times New Roman" panose="02020603050405020304" pitchFamily="18" charset="0"/>
              <a:ea typeface="Kulim Park"/>
              <a:cs typeface="Times New Roman" panose="02020603050405020304" pitchFamily="18" charset="0"/>
              <a:sym typeface="Kulim Par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5" name="Google Shape;605;p61"/>
          <p:cNvPicPr preferRelativeResize="0"/>
          <p:nvPr/>
        </p:nvPicPr>
        <p:blipFill rotWithShape="1">
          <a:blip r:embed="rId3">
            <a:alphaModFix/>
          </a:blip>
          <a:srcRect l="21350" r="18473" b="17416"/>
          <a:stretch/>
        </p:blipFill>
        <p:spPr>
          <a:xfrm>
            <a:off x="7004482" y="993177"/>
            <a:ext cx="3521247" cy="3157145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61"/>
          <p:cNvSpPr/>
          <p:nvPr/>
        </p:nvSpPr>
        <p:spPr>
          <a:xfrm>
            <a:off x="6503117" y="766650"/>
            <a:ext cx="4180934" cy="4180628"/>
          </a:xfrm>
          <a:custGeom>
            <a:avLst/>
            <a:gdLst/>
            <a:ahLst/>
            <a:cxnLst/>
            <a:rect l="l" t="t" r="r" b="b"/>
            <a:pathLst>
              <a:path w="122671" h="122671" extrusionOk="0">
                <a:moveTo>
                  <a:pt x="61288" y="15890"/>
                </a:moveTo>
                <a:cubicBezTo>
                  <a:pt x="74134" y="15890"/>
                  <a:pt x="87890" y="17837"/>
                  <a:pt x="98492" y="25582"/>
                </a:cubicBezTo>
                <a:cubicBezTo>
                  <a:pt x="106392" y="31355"/>
                  <a:pt x="107052" y="41356"/>
                  <a:pt x="105729" y="50292"/>
                </a:cubicBezTo>
                <a:cubicBezTo>
                  <a:pt x="104207" y="60560"/>
                  <a:pt x="103318" y="70931"/>
                  <a:pt x="101429" y="81148"/>
                </a:cubicBezTo>
                <a:cubicBezTo>
                  <a:pt x="99916" y="89314"/>
                  <a:pt x="96431" y="97128"/>
                  <a:pt x="88124" y="99955"/>
                </a:cubicBezTo>
                <a:cubicBezTo>
                  <a:pt x="84437" y="101209"/>
                  <a:pt x="80540" y="101601"/>
                  <a:pt x="76602" y="101601"/>
                </a:cubicBezTo>
                <a:cubicBezTo>
                  <a:pt x="71796" y="101601"/>
                  <a:pt x="66926" y="101018"/>
                  <a:pt x="62297" y="100710"/>
                </a:cubicBezTo>
                <a:cubicBezTo>
                  <a:pt x="51217" y="99976"/>
                  <a:pt x="40203" y="98506"/>
                  <a:pt x="29211" y="96964"/>
                </a:cubicBezTo>
                <a:cubicBezTo>
                  <a:pt x="16647" y="95202"/>
                  <a:pt x="10610" y="89119"/>
                  <a:pt x="11276" y="76081"/>
                </a:cubicBezTo>
                <a:cubicBezTo>
                  <a:pt x="11770" y="66433"/>
                  <a:pt x="13452" y="56900"/>
                  <a:pt x="15516" y="47476"/>
                </a:cubicBezTo>
                <a:cubicBezTo>
                  <a:pt x="17086" y="40308"/>
                  <a:pt x="17867" y="30029"/>
                  <a:pt x="23464" y="24632"/>
                </a:cubicBezTo>
                <a:cubicBezTo>
                  <a:pt x="31878" y="16520"/>
                  <a:pt x="46079" y="16024"/>
                  <a:pt x="57526" y="15914"/>
                </a:cubicBezTo>
                <a:cubicBezTo>
                  <a:pt x="58439" y="15906"/>
                  <a:pt x="59335" y="15900"/>
                  <a:pt x="60210" y="15894"/>
                </a:cubicBezTo>
                <a:cubicBezTo>
                  <a:pt x="60569" y="15891"/>
                  <a:pt x="60928" y="15890"/>
                  <a:pt x="61288" y="15890"/>
                </a:cubicBezTo>
                <a:close/>
                <a:moveTo>
                  <a:pt x="0" y="0"/>
                </a:moveTo>
                <a:lnTo>
                  <a:pt x="0" y="122670"/>
                </a:lnTo>
                <a:lnTo>
                  <a:pt x="122671" y="122670"/>
                </a:lnTo>
                <a:lnTo>
                  <a:pt x="12267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61"/>
          <p:cNvSpPr txBox="1">
            <a:spLocks noGrp="1"/>
          </p:cNvSpPr>
          <p:nvPr>
            <p:ph type="body" idx="1"/>
          </p:nvPr>
        </p:nvSpPr>
        <p:spPr>
          <a:xfrm>
            <a:off x="550416" y="1543665"/>
            <a:ext cx="6933460" cy="34190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2200" b="1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Prejudice: </a:t>
            </a:r>
            <a:r>
              <a:rPr lang="en-US" sz="2200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Prejudging or making a judgment in advance without proper examination.</a:t>
            </a:r>
          </a:p>
          <a:p>
            <a:pPr marL="0" lvl="0" indent="0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sz="2200" i="1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Example: Assuming all members of a minority group are lazy.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2200" b="1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Discrimination: </a:t>
            </a:r>
            <a:r>
              <a:rPr lang="en-US" sz="2200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Taking action against people based on their category.</a:t>
            </a:r>
          </a:p>
          <a:p>
            <a:pPr marL="0" lvl="0" indent="0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sz="2200" i="1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Example: Refusing to hire someone because of their race.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2200" b="1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Oppression: </a:t>
            </a:r>
            <a:r>
              <a:rPr lang="en-US" sz="2200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Unjust or cruel exercise of authority or power.</a:t>
            </a:r>
          </a:p>
          <a:p>
            <a:pPr marL="0" lvl="0" indent="0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sz="2200" i="1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Example: Systemic racism, wage gaps, limited leadership representation for minority groups. 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sz="2200" kern="1200" dirty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08" name="Google Shape;608;p61"/>
          <p:cNvSpPr/>
          <p:nvPr/>
        </p:nvSpPr>
        <p:spPr>
          <a:xfrm rot="4102360" flipH="1">
            <a:off x="-2512533" y="4030635"/>
            <a:ext cx="7471578" cy="477174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9" name="Google Shape;609;p61"/>
          <p:cNvSpPr txBox="1">
            <a:spLocks noGrp="1"/>
          </p:cNvSpPr>
          <p:nvPr>
            <p:ph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Terms</a:t>
            </a:r>
            <a:endParaRPr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0" name="Google Shape;610;p61"/>
          <p:cNvSpPr/>
          <p:nvPr/>
        </p:nvSpPr>
        <p:spPr>
          <a:xfrm rot="813319">
            <a:off x="-4129602" y="-173702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59"/>
          <p:cNvSpPr txBox="1">
            <a:spLocks noGrp="1"/>
          </p:cNvSpPr>
          <p:nvPr>
            <p:ph type="title" idx="15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Prejudice and Discrimination-Merton’s Four Types</a:t>
            </a:r>
          </a:p>
        </p:txBody>
      </p:sp>
      <p:sp>
        <p:nvSpPr>
          <p:cNvPr id="568" name="Google Shape;568;p59"/>
          <p:cNvSpPr txBox="1">
            <a:spLocks noGrp="1"/>
          </p:cNvSpPr>
          <p:nvPr>
            <p:ph type="title"/>
          </p:nvPr>
        </p:nvSpPr>
        <p:spPr>
          <a:xfrm>
            <a:off x="719925" y="1631784"/>
            <a:ext cx="18360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Unprejudiced Non-discriminator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9" name="Google Shape;569;p59"/>
          <p:cNvSpPr txBox="1">
            <a:spLocks noGrp="1"/>
          </p:cNvSpPr>
          <p:nvPr>
            <p:ph type="subTitle" idx="1"/>
          </p:nvPr>
        </p:nvSpPr>
        <p:spPr>
          <a:xfrm>
            <a:off x="662784" y="2672248"/>
            <a:ext cx="1836000" cy="18242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8900" indent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Believes in equality and does not discriminate.</a:t>
            </a:r>
          </a:p>
          <a:p>
            <a:pPr marL="88900" indent="0"/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 fair employer who hires based on merit.</a:t>
            </a:r>
          </a:p>
        </p:txBody>
      </p:sp>
      <p:sp>
        <p:nvSpPr>
          <p:cNvPr id="570" name="Google Shape;570;p59"/>
          <p:cNvSpPr txBox="1">
            <a:spLocks noGrp="1"/>
          </p:cNvSpPr>
          <p:nvPr>
            <p:ph type="title" idx="7"/>
          </p:nvPr>
        </p:nvSpPr>
        <p:spPr>
          <a:xfrm>
            <a:off x="6549504" y="1631784"/>
            <a:ext cx="18360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Prejudiced Discriminator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1" name="Google Shape;571;p59"/>
          <p:cNvSpPr txBox="1">
            <a:spLocks noGrp="1"/>
          </p:cNvSpPr>
          <p:nvPr>
            <p:ph type="subTitle" idx="8"/>
          </p:nvPr>
        </p:nvSpPr>
        <p:spPr>
          <a:xfrm>
            <a:off x="6549504" y="2632299"/>
            <a:ext cx="1836000" cy="23391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indent="-1270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Holds prejudiced views and acts on them.</a:t>
            </a:r>
          </a:p>
          <a:p>
            <a:pPr marL="12700" indent="-12700"/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 business owner who refuses service to certain ethnic groups because of his set beliefs.</a:t>
            </a:r>
          </a:p>
        </p:txBody>
      </p:sp>
      <p:sp>
        <p:nvSpPr>
          <p:cNvPr id="572" name="Google Shape;572;p59"/>
          <p:cNvSpPr txBox="1">
            <a:spLocks noGrp="1"/>
          </p:cNvSpPr>
          <p:nvPr>
            <p:ph type="subTitle" idx="4"/>
          </p:nvPr>
        </p:nvSpPr>
        <p:spPr>
          <a:xfrm>
            <a:off x="2321301" y="2435192"/>
            <a:ext cx="2483908" cy="20674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8900" indent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personally prejudiced but may discriminate for convenience.</a:t>
            </a:r>
          </a:p>
          <a:p>
            <a:pPr marL="88900" indent="0"/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 hiring manager who values equal opportunity still follows an unwritten company rule against hiring older employees to avoid conflict with upper management.</a:t>
            </a:r>
          </a:p>
        </p:txBody>
      </p:sp>
      <p:sp>
        <p:nvSpPr>
          <p:cNvPr id="573" name="Google Shape;573;p59"/>
          <p:cNvSpPr txBox="1">
            <a:spLocks noGrp="1"/>
          </p:cNvSpPr>
          <p:nvPr>
            <p:ph type="title" idx="3"/>
          </p:nvPr>
        </p:nvSpPr>
        <p:spPr>
          <a:xfrm>
            <a:off x="2680246" y="1549225"/>
            <a:ext cx="18360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Unprejudiced Discriminator</a:t>
            </a:r>
            <a:endParaRPr sz="2200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6" name="Google Shape;576;p59"/>
          <p:cNvSpPr txBox="1">
            <a:spLocks noGrp="1"/>
          </p:cNvSpPr>
          <p:nvPr>
            <p:ph type="title" idx="5"/>
          </p:nvPr>
        </p:nvSpPr>
        <p:spPr>
          <a:xfrm>
            <a:off x="4614875" y="1631784"/>
            <a:ext cx="18360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Prejudiced Non-discriminator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7" name="Google Shape;577;p59"/>
          <p:cNvSpPr txBox="1">
            <a:spLocks noGrp="1"/>
          </p:cNvSpPr>
          <p:nvPr>
            <p:ph type="subTitle" idx="6"/>
          </p:nvPr>
        </p:nvSpPr>
        <p:spPr>
          <a:xfrm>
            <a:off x="4627725" y="2632299"/>
            <a:ext cx="1836000" cy="19041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Holds prejudiced views but does not act on them due to social pressures.</a:t>
            </a:r>
          </a:p>
          <a:p>
            <a:pPr marL="0" indent="0"/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 manager who dislikes a certain group but follows anti-discrimination laws.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8" grpId="0"/>
      <p:bldP spid="569" grpId="0" build="p"/>
      <p:bldP spid="570" grpId="0"/>
      <p:bldP spid="573" grpId="0"/>
      <p:bldP spid="57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62"/>
          <p:cNvSpPr txBox="1">
            <a:spLocks noGrp="1"/>
          </p:cNvSpPr>
          <p:nvPr>
            <p:ph type="title"/>
          </p:nvPr>
        </p:nvSpPr>
        <p:spPr>
          <a:xfrm>
            <a:off x="1093939" y="322925"/>
            <a:ext cx="7887223" cy="119272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Jure vs. De Facto Discrimination</a:t>
            </a:r>
          </a:p>
        </p:txBody>
      </p:sp>
      <p:sp>
        <p:nvSpPr>
          <p:cNvPr id="616" name="Google Shape;616;p62"/>
          <p:cNvSpPr txBox="1">
            <a:spLocks noGrp="1"/>
          </p:cNvSpPr>
          <p:nvPr>
            <p:ph type="body" idx="1"/>
          </p:nvPr>
        </p:nvSpPr>
        <p:spPr>
          <a:xfrm>
            <a:off x="1514899" y="1868725"/>
            <a:ext cx="6891682" cy="29518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Jure Discrimination: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discrimination.</a:t>
            </a:r>
          </a:p>
          <a:p>
            <a:pPr marL="127000" indent="0">
              <a:buNone/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Example??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Facto Discrimination: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Discrimination that exists in practice, even if not legal.</a:t>
            </a:r>
          </a:p>
          <a:p>
            <a:pPr marL="127000" indent="0">
              <a:buNone/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Example??</a:t>
            </a:r>
          </a:p>
          <a:p>
            <a:pPr marL="12700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60"/>
          <p:cNvSpPr/>
          <p:nvPr/>
        </p:nvSpPr>
        <p:spPr>
          <a:xfrm>
            <a:off x="695046" y="1134457"/>
            <a:ext cx="1350837" cy="973145"/>
          </a:xfrm>
          <a:custGeom>
            <a:avLst/>
            <a:gdLst/>
            <a:ahLst/>
            <a:cxnLst/>
            <a:rect l="l" t="t" r="r" b="b"/>
            <a:pathLst>
              <a:path w="18827" h="13563" extrusionOk="0">
                <a:moveTo>
                  <a:pt x="7161" y="0"/>
                </a:moveTo>
                <a:cubicBezTo>
                  <a:pt x="6367" y="0"/>
                  <a:pt x="5745" y="97"/>
                  <a:pt x="5462" y="302"/>
                </a:cubicBezTo>
                <a:cubicBezTo>
                  <a:pt x="5439" y="302"/>
                  <a:pt x="5416" y="302"/>
                  <a:pt x="5393" y="302"/>
                </a:cubicBezTo>
                <a:cubicBezTo>
                  <a:pt x="1116" y="302"/>
                  <a:pt x="1" y="5785"/>
                  <a:pt x="370" y="9035"/>
                </a:cubicBezTo>
                <a:cubicBezTo>
                  <a:pt x="734" y="12239"/>
                  <a:pt x="5348" y="13486"/>
                  <a:pt x="7931" y="13560"/>
                </a:cubicBezTo>
                <a:cubicBezTo>
                  <a:pt x="7975" y="13562"/>
                  <a:pt x="8020" y="13562"/>
                  <a:pt x="8064" y="13562"/>
                </a:cubicBezTo>
                <a:cubicBezTo>
                  <a:pt x="13120" y="13562"/>
                  <a:pt x="18826" y="5169"/>
                  <a:pt x="13911" y="1714"/>
                </a:cubicBezTo>
                <a:cubicBezTo>
                  <a:pt x="12377" y="637"/>
                  <a:pt x="9200" y="0"/>
                  <a:pt x="7161" y="0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60"/>
          <p:cNvSpPr/>
          <p:nvPr/>
        </p:nvSpPr>
        <p:spPr>
          <a:xfrm flipH="1">
            <a:off x="4568795" y="1205652"/>
            <a:ext cx="1350837" cy="973145"/>
          </a:xfrm>
          <a:custGeom>
            <a:avLst/>
            <a:gdLst/>
            <a:ahLst/>
            <a:cxnLst/>
            <a:rect l="l" t="t" r="r" b="b"/>
            <a:pathLst>
              <a:path w="18827" h="13563" extrusionOk="0">
                <a:moveTo>
                  <a:pt x="7161" y="0"/>
                </a:moveTo>
                <a:cubicBezTo>
                  <a:pt x="6367" y="0"/>
                  <a:pt x="5745" y="97"/>
                  <a:pt x="5462" y="302"/>
                </a:cubicBezTo>
                <a:cubicBezTo>
                  <a:pt x="5439" y="302"/>
                  <a:pt x="5416" y="302"/>
                  <a:pt x="5393" y="302"/>
                </a:cubicBezTo>
                <a:cubicBezTo>
                  <a:pt x="1116" y="302"/>
                  <a:pt x="1" y="5785"/>
                  <a:pt x="370" y="9035"/>
                </a:cubicBezTo>
                <a:cubicBezTo>
                  <a:pt x="734" y="12239"/>
                  <a:pt x="5348" y="13486"/>
                  <a:pt x="7931" y="13560"/>
                </a:cubicBezTo>
                <a:cubicBezTo>
                  <a:pt x="7975" y="13562"/>
                  <a:pt x="8020" y="13562"/>
                  <a:pt x="8064" y="13562"/>
                </a:cubicBezTo>
                <a:cubicBezTo>
                  <a:pt x="13120" y="13562"/>
                  <a:pt x="18826" y="5169"/>
                  <a:pt x="13911" y="1714"/>
                </a:cubicBezTo>
                <a:cubicBezTo>
                  <a:pt x="12377" y="637"/>
                  <a:pt x="9200" y="0"/>
                  <a:pt x="7161" y="0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60"/>
          <p:cNvSpPr/>
          <p:nvPr/>
        </p:nvSpPr>
        <p:spPr>
          <a:xfrm flipH="1">
            <a:off x="4720335" y="3321937"/>
            <a:ext cx="1162249" cy="1032818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rgbClr val="AC9078">
              <a:alpha val="72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60"/>
          <p:cNvSpPr/>
          <p:nvPr/>
        </p:nvSpPr>
        <p:spPr>
          <a:xfrm>
            <a:off x="612387" y="3513466"/>
            <a:ext cx="1095097" cy="973144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60"/>
          <p:cNvSpPr txBox="1">
            <a:spLocks noGrp="1"/>
          </p:cNvSpPr>
          <p:nvPr>
            <p:ph type="title"/>
          </p:nvPr>
        </p:nvSpPr>
        <p:spPr>
          <a:xfrm>
            <a:off x="1928100" y="694745"/>
            <a:ext cx="24300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Stereotypes</a:t>
            </a:r>
            <a:endParaRPr dirty="0"/>
          </a:p>
        </p:txBody>
      </p:sp>
      <p:sp>
        <p:nvSpPr>
          <p:cNvPr id="590" name="Google Shape;590;p60"/>
          <p:cNvSpPr txBox="1">
            <a:spLocks noGrp="1"/>
          </p:cNvSpPr>
          <p:nvPr>
            <p:ph type="subTitle" idx="1"/>
          </p:nvPr>
        </p:nvSpPr>
        <p:spPr>
          <a:xfrm>
            <a:off x="1842948" y="1547337"/>
            <a:ext cx="2430000" cy="13282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4138" indent="0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Fixed, often inaccurate, mental images applied to a group.</a:t>
            </a:r>
          </a:p>
          <a:p>
            <a:pPr marL="84138" indent="0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Assuming females are not good drivers.</a:t>
            </a:r>
          </a:p>
        </p:txBody>
      </p:sp>
      <p:sp>
        <p:nvSpPr>
          <p:cNvPr id="591" name="Google Shape;591;p60"/>
          <p:cNvSpPr txBox="1">
            <a:spLocks noGrp="1"/>
          </p:cNvSpPr>
          <p:nvPr>
            <p:ph type="title" idx="2"/>
          </p:nvPr>
        </p:nvSpPr>
        <p:spPr>
          <a:xfrm>
            <a:off x="819553" y="1426672"/>
            <a:ext cx="812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592" name="Google Shape;592;p60"/>
          <p:cNvSpPr txBox="1">
            <a:spLocks noGrp="1"/>
          </p:cNvSpPr>
          <p:nvPr>
            <p:ph type="title" idx="3"/>
          </p:nvPr>
        </p:nvSpPr>
        <p:spPr>
          <a:xfrm>
            <a:off x="1901768" y="2573620"/>
            <a:ext cx="24300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Minority Group</a:t>
            </a:r>
            <a:endParaRPr dirty="0"/>
          </a:p>
        </p:txBody>
      </p:sp>
      <p:sp>
        <p:nvSpPr>
          <p:cNvPr id="593" name="Google Shape;593;p60"/>
          <p:cNvSpPr txBox="1">
            <a:spLocks noGrp="1"/>
          </p:cNvSpPr>
          <p:nvPr>
            <p:ph type="subTitle" idx="4"/>
          </p:nvPr>
        </p:nvSpPr>
        <p:spPr>
          <a:xfrm>
            <a:off x="1842948" y="3387137"/>
            <a:ext cx="2430000" cy="13282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4138" indent="-12700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group with subordinate status, subjected to discrimination.</a:t>
            </a:r>
          </a:p>
          <a:p>
            <a:pPr marL="84138" indent="-12700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Christians in Pakistan 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5" name="Google Shape;595;p60"/>
          <p:cNvSpPr txBox="1">
            <a:spLocks noGrp="1"/>
          </p:cNvSpPr>
          <p:nvPr>
            <p:ph type="title" idx="7"/>
          </p:nvPr>
        </p:nvSpPr>
        <p:spPr>
          <a:xfrm>
            <a:off x="5846584" y="2559511"/>
            <a:ext cx="24300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Racism</a:t>
            </a:r>
            <a:endParaRPr dirty="0"/>
          </a:p>
        </p:txBody>
      </p:sp>
      <p:sp>
        <p:nvSpPr>
          <p:cNvPr id="596" name="Google Shape;596;p60"/>
          <p:cNvSpPr txBox="1">
            <a:spLocks noGrp="1"/>
          </p:cNvSpPr>
          <p:nvPr>
            <p:ph type="title" idx="9"/>
          </p:nvPr>
        </p:nvSpPr>
        <p:spPr>
          <a:xfrm>
            <a:off x="753585" y="3776238"/>
            <a:ext cx="812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597" name="Google Shape;597;p60"/>
          <p:cNvSpPr txBox="1">
            <a:spLocks noGrp="1"/>
          </p:cNvSpPr>
          <p:nvPr>
            <p:ph type="title" idx="5"/>
          </p:nvPr>
        </p:nvSpPr>
        <p:spPr>
          <a:xfrm>
            <a:off x="5812058" y="691059"/>
            <a:ext cx="24300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Microaggressions</a:t>
            </a:r>
            <a:endParaRPr dirty="0"/>
          </a:p>
        </p:txBody>
      </p:sp>
      <p:sp>
        <p:nvSpPr>
          <p:cNvPr id="598" name="Google Shape;598;p60"/>
          <p:cNvSpPr txBox="1">
            <a:spLocks noGrp="1"/>
          </p:cNvSpPr>
          <p:nvPr>
            <p:ph type="subTitle" idx="8"/>
          </p:nvPr>
        </p:nvSpPr>
        <p:spPr>
          <a:xfrm>
            <a:off x="5846584" y="3410920"/>
            <a:ext cx="2577341" cy="14498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4138" indent="-12700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Stereotyping or discrimination based on ethnic or cultural background.</a:t>
            </a:r>
          </a:p>
          <a:p>
            <a:pPr marL="84138" indent="-12700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African Americans excluding a biracial individual from their group.</a:t>
            </a:r>
          </a:p>
        </p:txBody>
      </p:sp>
      <p:sp>
        <p:nvSpPr>
          <p:cNvPr id="599" name="Google Shape;599;p60"/>
          <p:cNvSpPr txBox="1">
            <a:spLocks noGrp="1"/>
          </p:cNvSpPr>
          <p:nvPr>
            <p:ph type="title" idx="13"/>
          </p:nvPr>
        </p:nvSpPr>
        <p:spPr>
          <a:xfrm>
            <a:off x="4962295" y="1426672"/>
            <a:ext cx="812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600" name="Google Shape;600;p60"/>
          <p:cNvSpPr txBox="1">
            <a:spLocks noGrp="1"/>
          </p:cNvSpPr>
          <p:nvPr>
            <p:ph type="title" idx="14"/>
          </p:nvPr>
        </p:nvSpPr>
        <p:spPr>
          <a:xfrm>
            <a:off x="4895098" y="3644250"/>
            <a:ext cx="812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630" name="Google Shape;630;p63"/>
          <p:cNvSpPr txBox="1">
            <a:spLocks/>
          </p:cNvSpPr>
          <p:nvPr/>
        </p:nvSpPr>
        <p:spPr>
          <a:xfrm>
            <a:off x="5785726" y="1468557"/>
            <a:ext cx="2325300" cy="148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84138" indent="-127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Subtle, offensive attacks on minority individuals or groups.</a:t>
            </a:r>
          </a:p>
          <a:p>
            <a:pPr marL="84138" indent="-12700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Telling someone to eat less because they are overweight</a:t>
            </a:r>
          </a:p>
        </p:txBody>
      </p:sp>
      <p:sp>
        <p:nvSpPr>
          <p:cNvPr id="6" name="Google Shape;609;p61">
            <a:extLst>
              <a:ext uri="{FF2B5EF4-FFF2-40B4-BE49-F238E27FC236}">
                <a16:creationId xmlns:a16="http://schemas.microsoft.com/office/drawing/2014/main" id="{664DA058-6F15-EE53-942A-EED847A1FC0A}"/>
              </a:ext>
            </a:extLst>
          </p:cNvPr>
          <p:cNvSpPr txBox="1">
            <a:spLocks/>
          </p:cNvSpPr>
          <p:nvPr/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0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9pPr>
          </a:lstStyle>
          <a:p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Terms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>
          <a:extLst>
            <a:ext uri="{FF2B5EF4-FFF2-40B4-BE49-F238E27FC236}">
              <a16:creationId xmlns:a16="http://schemas.microsoft.com/office/drawing/2014/main" id="{68B0DD12-EF92-76D3-7709-C16107305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60">
            <a:extLst>
              <a:ext uri="{FF2B5EF4-FFF2-40B4-BE49-F238E27FC236}">
                <a16:creationId xmlns:a16="http://schemas.microsoft.com/office/drawing/2014/main" id="{B1FD4AC1-B2FA-D4CD-65C1-DF53EA57BBEF}"/>
              </a:ext>
            </a:extLst>
          </p:cNvPr>
          <p:cNvSpPr/>
          <p:nvPr/>
        </p:nvSpPr>
        <p:spPr>
          <a:xfrm>
            <a:off x="695046" y="1134457"/>
            <a:ext cx="1350837" cy="973145"/>
          </a:xfrm>
          <a:custGeom>
            <a:avLst/>
            <a:gdLst/>
            <a:ahLst/>
            <a:cxnLst/>
            <a:rect l="l" t="t" r="r" b="b"/>
            <a:pathLst>
              <a:path w="18827" h="13563" extrusionOk="0">
                <a:moveTo>
                  <a:pt x="7161" y="0"/>
                </a:moveTo>
                <a:cubicBezTo>
                  <a:pt x="6367" y="0"/>
                  <a:pt x="5745" y="97"/>
                  <a:pt x="5462" y="302"/>
                </a:cubicBezTo>
                <a:cubicBezTo>
                  <a:pt x="5439" y="302"/>
                  <a:pt x="5416" y="302"/>
                  <a:pt x="5393" y="302"/>
                </a:cubicBezTo>
                <a:cubicBezTo>
                  <a:pt x="1116" y="302"/>
                  <a:pt x="1" y="5785"/>
                  <a:pt x="370" y="9035"/>
                </a:cubicBezTo>
                <a:cubicBezTo>
                  <a:pt x="734" y="12239"/>
                  <a:pt x="5348" y="13486"/>
                  <a:pt x="7931" y="13560"/>
                </a:cubicBezTo>
                <a:cubicBezTo>
                  <a:pt x="7975" y="13562"/>
                  <a:pt x="8020" y="13562"/>
                  <a:pt x="8064" y="13562"/>
                </a:cubicBezTo>
                <a:cubicBezTo>
                  <a:pt x="13120" y="13562"/>
                  <a:pt x="18826" y="5169"/>
                  <a:pt x="13911" y="1714"/>
                </a:cubicBezTo>
                <a:cubicBezTo>
                  <a:pt x="12377" y="637"/>
                  <a:pt x="9200" y="0"/>
                  <a:pt x="7161" y="0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60">
            <a:extLst>
              <a:ext uri="{FF2B5EF4-FFF2-40B4-BE49-F238E27FC236}">
                <a16:creationId xmlns:a16="http://schemas.microsoft.com/office/drawing/2014/main" id="{3FD260F2-0833-59A8-C402-7494A04844FC}"/>
              </a:ext>
            </a:extLst>
          </p:cNvPr>
          <p:cNvSpPr/>
          <p:nvPr/>
        </p:nvSpPr>
        <p:spPr>
          <a:xfrm flipH="1">
            <a:off x="4568795" y="1205652"/>
            <a:ext cx="1350837" cy="973145"/>
          </a:xfrm>
          <a:custGeom>
            <a:avLst/>
            <a:gdLst/>
            <a:ahLst/>
            <a:cxnLst/>
            <a:rect l="l" t="t" r="r" b="b"/>
            <a:pathLst>
              <a:path w="18827" h="13563" extrusionOk="0">
                <a:moveTo>
                  <a:pt x="7161" y="0"/>
                </a:moveTo>
                <a:cubicBezTo>
                  <a:pt x="6367" y="0"/>
                  <a:pt x="5745" y="97"/>
                  <a:pt x="5462" y="302"/>
                </a:cubicBezTo>
                <a:cubicBezTo>
                  <a:pt x="5439" y="302"/>
                  <a:pt x="5416" y="302"/>
                  <a:pt x="5393" y="302"/>
                </a:cubicBezTo>
                <a:cubicBezTo>
                  <a:pt x="1116" y="302"/>
                  <a:pt x="1" y="5785"/>
                  <a:pt x="370" y="9035"/>
                </a:cubicBezTo>
                <a:cubicBezTo>
                  <a:pt x="734" y="12239"/>
                  <a:pt x="5348" y="13486"/>
                  <a:pt x="7931" y="13560"/>
                </a:cubicBezTo>
                <a:cubicBezTo>
                  <a:pt x="7975" y="13562"/>
                  <a:pt x="8020" y="13562"/>
                  <a:pt x="8064" y="13562"/>
                </a:cubicBezTo>
                <a:cubicBezTo>
                  <a:pt x="13120" y="13562"/>
                  <a:pt x="18826" y="5169"/>
                  <a:pt x="13911" y="1714"/>
                </a:cubicBezTo>
                <a:cubicBezTo>
                  <a:pt x="12377" y="637"/>
                  <a:pt x="9200" y="0"/>
                  <a:pt x="7161" y="0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60">
            <a:extLst>
              <a:ext uri="{FF2B5EF4-FFF2-40B4-BE49-F238E27FC236}">
                <a16:creationId xmlns:a16="http://schemas.microsoft.com/office/drawing/2014/main" id="{B450AE4E-6E15-E99B-C1DB-ACC5271E63CD}"/>
              </a:ext>
            </a:extLst>
          </p:cNvPr>
          <p:cNvSpPr/>
          <p:nvPr/>
        </p:nvSpPr>
        <p:spPr>
          <a:xfrm flipH="1">
            <a:off x="4720335" y="3321937"/>
            <a:ext cx="1162249" cy="1032818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rgbClr val="AC9078">
              <a:alpha val="72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60">
            <a:extLst>
              <a:ext uri="{FF2B5EF4-FFF2-40B4-BE49-F238E27FC236}">
                <a16:creationId xmlns:a16="http://schemas.microsoft.com/office/drawing/2014/main" id="{C26C0EDC-0377-4D55-E94A-6FCBA8C76451}"/>
              </a:ext>
            </a:extLst>
          </p:cNvPr>
          <p:cNvSpPr/>
          <p:nvPr/>
        </p:nvSpPr>
        <p:spPr>
          <a:xfrm>
            <a:off x="640227" y="3410920"/>
            <a:ext cx="1095097" cy="973144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60">
            <a:extLst>
              <a:ext uri="{FF2B5EF4-FFF2-40B4-BE49-F238E27FC236}">
                <a16:creationId xmlns:a16="http://schemas.microsoft.com/office/drawing/2014/main" id="{73085417-A7D8-E289-9EE0-4E95733A4E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28100" y="694745"/>
            <a:ext cx="24300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Unconscious Racism</a:t>
            </a:r>
            <a:endParaRPr dirty="0"/>
          </a:p>
        </p:txBody>
      </p:sp>
      <p:sp>
        <p:nvSpPr>
          <p:cNvPr id="590" name="Google Shape;590;p60">
            <a:extLst>
              <a:ext uri="{FF2B5EF4-FFF2-40B4-BE49-F238E27FC236}">
                <a16:creationId xmlns:a16="http://schemas.microsoft.com/office/drawing/2014/main" id="{6B204A47-B200-1773-C80C-7247428077E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867921" y="3443195"/>
            <a:ext cx="2430000" cy="13282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6675" indent="-66675"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Viewing other ethnic groups as “not like us” and outside the norm.</a:t>
            </a:r>
          </a:p>
          <a:p>
            <a:pPr marL="66675" indent="-66675" algn="just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 group member saying, “They are not like us, so they don’t belong.</a:t>
            </a:r>
          </a:p>
        </p:txBody>
      </p:sp>
      <p:sp>
        <p:nvSpPr>
          <p:cNvPr id="591" name="Google Shape;591;p60">
            <a:extLst>
              <a:ext uri="{FF2B5EF4-FFF2-40B4-BE49-F238E27FC236}">
                <a16:creationId xmlns:a16="http://schemas.microsoft.com/office/drawing/2014/main" id="{93348DD1-29B0-8257-D019-7F41211EFC3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19553" y="1426672"/>
            <a:ext cx="812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592" name="Google Shape;592;p60">
            <a:extLst>
              <a:ext uri="{FF2B5EF4-FFF2-40B4-BE49-F238E27FC236}">
                <a16:creationId xmlns:a16="http://schemas.microsoft.com/office/drawing/2014/main" id="{D86CBBA2-7A68-AA98-08B0-5DF8906AB18D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1901768" y="2573620"/>
            <a:ext cx="24300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Othering</a:t>
            </a:r>
            <a:endParaRPr dirty="0"/>
          </a:p>
        </p:txBody>
      </p:sp>
      <p:sp>
        <p:nvSpPr>
          <p:cNvPr id="593" name="Google Shape;593;p60">
            <a:extLst>
              <a:ext uri="{FF2B5EF4-FFF2-40B4-BE49-F238E27FC236}">
                <a16:creationId xmlns:a16="http://schemas.microsoft.com/office/drawing/2014/main" id="{252284DB-A11E-C8A8-381E-94B650211D0E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867921" y="1533559"/>
            <a:ext cx="2430000" cy="6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7313" indent="-6350"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Racist attitudes individuals are unaware of.</a:t>
            </a:r>
          </a:p>
          <a:p>
            <a:pPr marL="87313" indent="-6350" algn="just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Assuming a person of color is less qualified for a job without realizing the bias.</a:t>
            </a:r>
          </a:p>
        </p:txBody>
      </p:sp>
      <p:sp>
        <p:nvSpPr>
          <p:cNvPr id="595" name="Google Shape;595;p60">
            <a:extLst>
              <a:ext uri="{FF2B5EF4-FFF2-40B4-BE49-F238E27FC236}">
                <a16:creationId xmlns:a16="http://schemas.microsoft.com/office/drawing/2014/main" id="{5B125341-4FE0-C7FA-6CFF-521121BD4D45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5812058" y="2719481"/>
            <a:ext cx="24300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Ageism</a:t>
            </a:r>
            <a:endParaRPr dirty="0"/>
          </a:p>
        </p:txBody>
      </p:sp>
      <p:sp>
        <p:nvSpPr>
          <p:cNvPr id="596" name="Google Shape;596;p60">
            <a:extLst>
              <a:ext uri="{FF2B5EF4-FFF2-40B4-BE49-F238E27FC236}">
                <a16:creationId xmlns:a16="http://schemas.microsoft.com/office/drawing/2014/main" id="{1E046404-D94F-6877-E512-521341BBF8BB}"/>
              </a:ext>
            </a:extLst>
          </p:cNvPr>
          <p:cNvSpPr txBox="1">
            <a:spLocks noGrp="1"/>
          </p:cNvSpPr>
          <p:nvPr>
            <p:ph type="title" idx="9"/>
          </p:nvPr>
        </p:nvSpPr>
        <p:spPr>
          <a:xfrm>
            <a:off x="819553" y="3633823"/>
            <a:ext cx="812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sp>
        <p:nvSpPr>
          <p:cNvPr id="597" name="Google Shape;597;p60">
            <a:extLst>
              <a:ext uri="{FF2B5EF4-FFF2-40B4-BE49-F238E27FC236}">
                <a16:creationId xmlns:a16="http://schemas.microsoft.com/office/drawing/2014/main" id="{43167D6B-E682-3735-9B5E-7FBE3DA56484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5812058" y="691059"/>
            <a:ext cx="24300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 Blindness</a:t>
            </a:r>
            <a:endParaRPr dirty="0"/>
          </a:p>
        </p:txBody>
      </p:sp>
      <p:sp>
        <p:nvSpPr>
          <p:cNvPr id="598" name="Google Shape;598;p60">
            <a:extLst>
              <a:ext uri="{FF2B5EF4-FFF2-40B4-BE49-F238E27FC236}">
                <a16:creationId xmlns:a16="http://schemas.microsoft.com/office/drawing/2014/main" id="{39AD0FDB-AA44-9E8B-070E-C8D58166CCCA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5993925" y="3410920"/>
            <a:ext cx="2430000" cy="6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350" indent="-6350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Discrimination based on age.</a:t>
            </a:r>
          </a:p>
          <a:p>
            <a:pPr marL="6350" indent="-6350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Excluding older adults from a group because they “won’t relate” to younger members.</a:t>
            </a:r>
            <a:endParaRPr lang="en-PK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9" name="Google Shape;599;p60">
            <a:extLst>
              <a:ext uri="{FF2B5EF4-FFF2-40B4-BE49-F238E27FC236}">
                <a16:creationId xmlns:a16="http://schemas.microsoft.com/office/drawing/2014/main" id="{5CCCA968-9ACE-93FC-CCC8-72A708226D6E}"/>
              </a:ext>
            </a:extLst>
          </p:cNvPr>
          <p:cNvSpPr txBox="1">
            <a:spLocks noGrp="1"/>
          </p:cNvSpPr>
          <p:nvPr>
            <p:ph type="title" idx="13"/>
          </p:nvPr>
        </p:nvSpPr>
        <p:spPr>
          <a:xfrm>
            <a:off x="4962295" y="1426672"/>
            <a:ext cx="812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600" name="Google Shape;600;p60">
            <a:extLst>
              <a:ext uri="{FF2B5EF4-FFF2-40B4-BE49-F238E27FC236}">
                <a16:creationId xmlns:a16="http://schemas.microsoft.com/office/drawing/2014/main" id="{774506E8-EE8A-7C01-AB6C-BB0ACC3C861F}"/>
              </a:ext>
            </a:extLst>
          </p:cNvPr>
          <p:cNvSpPr txBox="1">
            <a:spLocks noGrp="1"/>
          </p:cNvSpPr>
          <p:nvPr>
            <p:ph type="title" idx="14"/>
          </p:nvPr>
        </p:nvSpPr>
        <p:spPr>
          <a:xfrm>
            <a:off x="4895098" y="3644250"/>
            <a:ext cx="812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</a:t>
            </a:r>
            <a:endParaRPr dirty="0"/>
          </a:p>
        </p:txBody>
      </p:sp>
      <p:sp>
        <p:nvSpPr>
          <p:cNvPr id="630" name="Google Shape;630;p63">
            <a:extLst>
              <a:ext uri="{FF2B5EF4-FFF2-40B4-BE49-F238E27FC236}">
                <a16:creationId xmlns:a16="http://schemas.microsoft.com/office/drawing/2014/main" id="{298E00D9-F88E-6BB4-662A-098595FF9708}"/>
              </a:ext>
            </a:extLst>
          </p:cNvPr>
          <p:cNvSpPr txBox="1">
            <a:spLocks/>
          </p:cNvSpPr>
          <p:nvPr/>
        </p:nvSpPr>
        <p:spPr>
          <a:xfrm>
            <a:off x="5785726" y="1468557"/>
            <a:ext cx="2325300" cy="148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87313" indent="-6350"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Disregarding race, ethnicity, or age, believing these factors don’t matter.</a:t>
            </a:r>
          </a:p>
          <a:p>
            <a:pPr marL="87313" indent="-6350" algn="just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Ignoring racial differences in a group, which can invalidate individual experiences.</a:t>
            </a:r>
          </a:p>
        </p:txBody>
      </p:sp>
      <p:sp>
        <p:nvSpPr>
          <p:cNvPr id="6" name="Google Shape;609;p61">
            <a:extLst>
              <a:ext uri="{FF2B5EF4-FFF2-40B4-BE49-F238E27FC236}">
                <a16:creationId xmlns:a16="http://schemas.microsoft.com/office/drawing/2014/main" id="{A555586F-EF28-5ACD-0D78-68D089533013}"/>
              </a:ext>
            </a:extLst>
          </p:cNvPr>
          <p:cNvSpPr txBox="1">
            <a:spLocks/>
          </p:cNvSpPr>
          <p:nvPr/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0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9pPr>
          </a:lstStyle>
          <a:p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Terms</a:t>
            </a:r>
          </a:p>
        </p:txBody>
      </p:sp>
    </p:spTree>
    <p:extLst>
      <p:ext uri="{BB962C8B-B14F-4D97-AF65-F5344CB8AC3E}">
        <p14:creationId xmlns:p14="http://schemas.microsoft.com/office/powerpoint/2010/main" val="167551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65"/>
          <p:cNvSpPr txBox="1">
            <a:spLocks noGrp="1"/>
          </p:cNvSpPr>
          <p:nvPr>
            <p:ph type="title"/>
          </p:nvPr>
        </p:nvSpPr>
        <p:spPr>
          <a:xfrm>
            <a:off x="660009" y="187005"/>
            <a:ext cx="8245995" cy="142885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Knowledge about diverse groups</a:t>
            </a:r>
            <a:endParaRPr sz="5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2" name="Google Shape;652;p65"/>
          <p:cNvSpPr txBox="1">
            <a:spLocks noGrp="1"/>
          </p:cNvSpPr>
          <p:nvPr>
            <p:ph type="subTitle" idx="1"/>
          </p:nvPr>
        </p:nvSpPr>
        <p:spPr>
          <a:xfrm>
            <a:off x="660009" y="1792464"/>
            <a:ext cx="7506960" cy="24413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ocial workers must avoid using their own cultural values as the norm.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Empathy and understanding are enhanced when social workers share similar backgrounds with clients.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However, effective cross-cultural work is possible even when the social worker and client come from different backgrounds.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 worker should have knowledge of diverse groups they are working with</a:t>
            </a:r>
            <a:endParaRPr lang="en-US" sz="18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66"/>
          <p:cNvSpPr txBox="1">
            <a:spLocks noGrp="1"/>
          </p:cNvSpPr>
          <p:nvPr>
            <p:ph type="title"/>
          </p:nvPr>
        </p:nvSpPr>
        <p:spPr>
          <a:xfrm>
            <a:off x="535410" y="431147"/>
            <a:ext cx="7393566" cy="92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Ethnic Sensitive Practice</a:t>
            </a: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0A2689E-7ACB-6726-7906-8F4F427FEDDD}"/>
              </a:ext>
            </a:extLst>
          </p:cNvPr>
          <p:cNvSpPr txBox="1">
            <a:spLocks/>
          </p:cNvSpPr>
          <p:nvPr/>
        </p:nvSpPr>
        <p:spPr>
          <a:xfrm>
            <a:off x="211898" y="1474896"/>
            <a:ext cx="7980124" cy="3410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127000" indent="0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Incorporating understanding of diverse ethnic, cultural, and minority groups into social work practice.</a:t>
            </a:r>
          </a:p>
          <a:p>
            <a:pPr marL="469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Model vs Ethnic Sensitive Model</a:t>
            </a:r>
          </a:p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 Perspective: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people are part of two systems: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Dominant System: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society where we live in. Society, source of power and economic resources.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Nurturing System: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Family and community, providing emotional support.</a:t>
            </a:r>
          </a:p>
          <a:p>
            <a:pPr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Redress oppression experienced by ethnic groups.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>
          <a:extLst>
            <a:ext uri="{FF2B5EF4-FFF2-40B4-BE49-F238E27FC236}">
              <a16:creationId xmlns:a16="http://schemas.microsoft.com/office/drawing/2014/main" id="{EF494858-99F6-AD78-33FE-A9609E028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66">
            <a:extLst>
              <a:ext uri="{FF2B5EF4-FFF2-40B4-BE49-F238E27FC236}">
                <a16:creationId xmlns:a16="http://schemas.microsoft.com/office/drawing/2014/main" id="{B6379F5A-028B-20F6-5CBE-A05607A687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3654" y="258349"/>
            <a:ext cx="7656612" cy="92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Empowerment Perspective</a:t>
            </a: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AD1DAE0-8103-DDEA-1A50-DC02DF4C2094}"/>
              </a:ext>
            </a:extLst>
          </p:cNvPr>
          <p:cNvSpPr txBox="1">
            <a:spLocks/>
          </p:cNvSpPr>
          <p:nvPr/>
        </p:nvSpPr>
        <p:spPr>
          <a:xfrm>
            <a:off x="211898" y="1180249"/>
            <a:ext cx="7980124" cy="3704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indent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of helping individuals, families, groups, and communities increase their personal, interpersonal, socioeconomic, and political strength and influence toward improving their circumstances.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Focus: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Countering Negative Images: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stereotypes with positive values and images.</a:t>
            </a:r>
          </a:p>
          <a:p>
            <a:pPr marL="0" indent="0" algn="just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Helping a minority group member see themselves as capable and resilient rather than as a victim of oppression.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Self-Esteem: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clients to view themselves positively and recognize their strengths.</a:t>
            </a:r>
          </a:p>
          <a:p>
            <a:pPr marL="0" indent="0" algn="just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 battered woman learning to stop blaming herself for the abuse and recognizing her right to safety.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Decision-Making Power: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clients make and implement life decisions.</a:t>
            </a:r>
          </a:p>
          <a:p>
            <a:pPr marL="0" indent="0" algn="just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Assisting a low-income family in accessing resources to improve their living conditions.</a:t>
            </a:r>
          </a:p>
        </p:txBody>
      </p:sp>
    </p:spTree>
    <p:extLst>
      <p:ext uri="{BB962C8B-B14F-4D97-AF65-F5344CB8AC3E}">
        <p14:creationId xmlns:p14="http://schemas.microsoft.com/office/powerpoint/2010/main" val="1341754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>
          <a:extLst>
            <a:ext uri="{FF2B5EF4-FFF2-40B4-BE49-F238E27FC236}">
              <a16:creationId xmlns:a16="http://schemas.microsoft.com/office/drawing/2014/main" id="{11ACE045-CBD4-CEF8-FA44-4A9C582F9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8A15EFA-EEBD-39A5-0C21-75C0DBEB5855}"/>
              </a:ext>
            </a:extLst>
          </p:cNvPr>
          <p:cNvSpPr txBox="1">
            <a:spLocks/>
          </p:cNvSpPr>
          <p:nvPr/>
        </p:nvSpPr>
        <p:spPr>
          <a:xfrm>
            <a:off x="211898" y="1180249"/>
            <a:ext cx="8558448" cy="3704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160338" lvl="1" indent="0" algn="l">
              <a:spcBef>
                <a:spcPts val="300"/>
              </a:spcBef>
              <a:spcAft>
                <a:spcPts val="300"/>
              </a:spcAf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Empowerment Techniques: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6088" lvl="2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clients with knowledge (education) about their rights and resources.</a:t>
            </a:r>
          </a:p>
          <a:p>
            <a:pPr marL="446088" lvl="2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 clients skills to navigate systems (e.g., job training, financial literacy).</a:t>
            </a:r>
          </a:p>
          <a:p>
            <a:pPr marL="446088" lvl="2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clients advocate for themselves in legal, educational, or healthcare settings.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790459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>
          <a:extLst>
            <a:ext uri="{FF2B5EF4-FFF2-40B4-BE49-F238E27FC236}">
              <a16:creationId xmlns:a16="http://schemas.microsoft.com/office/drawing/2014/main" id="{173584F8-4863-D735-4147-99E63D922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66">
            <a:extLst>
              <a:ext uri="{FF2B5EF4-FFF2-40B4-BE49-F238E27FC236}">
                <a16:creationId xmlns:a16="http://schemas.microsoft.com/office/drawing/2014/main" id="{633D146E-C1CD-ED78-5302-412453AEF8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3654" y="258349"/>
            <a:ext cx="7656612" cy="92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 Perspective</a:t>
            </a: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75DAC41-A6AA-E897-FFBC-F4B9685F2929}"/>
              </a:ext>
            </a:extLst>
          </p:cNvPr>
          <p:cNvSpPr txBox="1">
            <a:spLocks/>
          </p:cNvSpPr>
          <p:nvPr/>
        </p:nvSpPr>
        <p:spPr>
          <a:xfrm>
            <a:off x="211898" y="1180249"/>
            <a:ext cx="8558448" cy="3704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indent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identifying, using, building on, and reinforcing the abilities and strengths that people have, rather than focusing on their deficiencies.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Principles: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6088" lvl="2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Abilities and Interests: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Emphasize what clients can do, not what they cannot.</a:t>
            </a:r>
          </a:p>
          <a:p>
            <a:pPr marL="446088" lvl="2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 and Accomplishments: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Highlight past successes and available resources.</a:t>
            </a:r>
          </a:p>
          <a:p>
            <a:pPr marL="446088" lvl="2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View of Self: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Help clients see themselves as capable and resourceful.</a:t>
            </a:r>
          </a:p>
          <a:p>
            <a:pPr marL="446088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 social worker helping a client with a disability focus on their ability to advocate for themselves rather than their limitations.</a:t>
            </a:r>
          </a:p>
        </p:txBody>
      </p:sp>
    </p:spTree>
    <p:extLst>
      <p:ext uri="{BB962C8B-B14F-4D97-AF65-F5344CB8AC3E}">
        <p14:creationId xmlns:p14="http://schemas.microsoft.com/office/powerpoint/2010/main" val="1762319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69"/>
          <p:cNvSpPr/>
          <p:nvPr/>
        </p:nvSpPr>
        <p:spPr>
          <a:xfrm rot="-529266">
            <a:off x="42313" y="3813823"/>
            <a:ext cx="1355222" cy="1174080"/>
          </a:xfrm>
          <a:custGeom>
            <a:avLst/>
            <a:gdLst/>
            <a:ahLst/>
            <a:cxnLst/>
            <a:rect l="l" t="t" r="r" b="b"/>
            <a:pathLst>
              <a:path w="8102" h="10617" extrusionOk="0">
                <a:moveTo>
                  <a:pt x="4051" y="625"/>
                </a:moveTo>
                <a:cubicBezTo>
                  <a:pt x="4462" y="625"/>
                  <a:pt x="4801" y="893"/>
                  <a:pt x="4925" y="1249"/>
                </a:cubicBezTo>
                <a:lnTo>
                  <a:pt x="3177" y="1249"/>
                </a:lnTo>
                <a:cubicBezTo>
                  <a:pt x="3302" y="893"/>
                  <a:pt x="3641" y="625"/>
                  <a:pt x="4051" y="625"/>
                </a:cubicBezTo>
                <a:close/>
                <a:moveTo>
                  <a:pt x="4979" y="1874"/>
                </a:moveTo>
                <a:lnTo>
                  <a:pt x="4979" y="2516"/>
                </a:lnTo>
                <a:lnTo>
                  <a:pt x="3123" y="2516"/>
                </a:lnTo>
                <a:lnTo>
                  <a:pt x="3123" y="1874"/>
                </a:lnTo>
                <a:close/>
                <a:moveTo>
                  <a:pt x="2535" y="3159"/>
                </a:moveTo>
                <a:lnTo>
                  <a:pt x="2535" y="3159"/>
                </a:lnTo>
                <a:cubicBezTo>
                  <a:pt x="2481" y="3230"/>
                  <a:pt x="2428" y="3301"/>
                  <a:pt x="2374" y="3391"/>
                </a:cubicBezTo>
                <a:cubicBezTo>
                  <a:pt x="2053" y="3908"/>
                  <a:pt x="1874" y="4586"/>
                  <a:pt x="1874" y="5318"/>
                </a:cubicBezTo>
                <a:cubicBezTo>
                  <a:pt x="1874" y="6031"/>
                  <a:pt x="2053" y="6727"/>
                  <a:pt x="2374" y="7245"/>
                </a:cubicBezTo>
                <a:cubicBezTo>
                  <a:pt x="2428" y="7316"/>
                  <a:pt x="2481" y="7405"/>
                  <a:pt x="2535" y="7477"/>
                </a:cubicBezTo>
                <a:cubicBezTo>
                  <a:pt x="1464" y="7352"/>
                  <a:pt x="625" y="6424"/>
                  <a:pt x="625" y="5318"/>
                </a:cubicBezTo>
                <a:cubicBezTo>
                  <a:pt x="625" y="4194"/>
                  <a:pt x="1464" y="3284"/>
                  <a:pt x="2535" y="3159"/>
                </a:cubicBezTo>
                <a:close/>
                <a:moveTo>
                  <a:pt x="5550" y="3159"/>
                </a:moveTo>
                <a:lnTo>
                  <a:pt x="5550" y="3159"/>
                </a:lnTo>
                <a:cubicBezTo>
                  <a:pt x="6638" y="3284"/>
                  <a:pt x="7477" y="4194"/>
                  <a:pt x="7477" y="5318"/>
                </a:cubicBezTo>
                <a:cubicBezTo>
                  <a:pt x="7477" y="6424"/>
                  <a:pt x="6638" y="7352"/>
                  <a:pt x="5550" y="7477"/>
                </a:cubicBezTo>
                <a:cubicBezTo>
                  <a:pt x="5621" y="7405"/>
                  <a:pt x="5675" y="7316"/>
                  <a:pt x="5728" y="7245"/>
                </a:cubicBezTo>
                <a:cubicBezTo>
                  <a:pt x="6050" y="6727"/>
                  <a:pt x="6228" y="6031"/>
                  <a:pt x="6228" y="5318"/>
                </a:cubicBezTo>
                <a:cubicBezTo>
                  <a:pt x="6228" y="4586"/>
                  <a:pt x="6050" y="3908"/>
                  <a:pt x="5728" y="3391"/>
                </a:cubicBezTo>
                <a:cubicBezTo>
                  <a:pt x="5675" y="3301"/>
                  <a:pt x="5621" y="3230"/>
                  <a:pt x="5550" y="3159"/>
                </a:cubicBezTo>
                <a:close/>
                <a:moveTo>
                  <a:pt x="3730" y="3141"/>
                </a:moveTo>
                <a:lnTo>
                  <a:pt x="3730" y="7494"/>
                </a:lnTo>
                <a:cubicBezTo>
                  <a:pt x="3070" y="7494"/>
                  <a:pt x="2499" y="6495"/>
                  <a:pt x="2499" y="5318"/>
                </a:cubicBezTo>
                <a:cubicBezTo>
                  <a:pt x="2499" y="4140"/>
                  <a:pt x="3070" y="3141"/>
                  <a:pt x="3730" y="3141"/>
                </a:cubicBezTo>
                <a:close/>
                <a:moveTo>
                  <a:pt x="4355" y="3141"/>
                </a:moveTo>
                <a:cubicBezTo>
                  <a:pt x="5033" y="3141"/>
                  <a:pt x="5603" y="4140"/>
                  <a:pt x="5603" y="5318"/>
                </a:cubicBezTo>
                <a:cubicBezTo>
                  <a:pt x="5603" y="6495"/>
                  <a:pt x="5033" y="7494"/>
                  <a:pt x="4355" y="7494"/>
                </a:cubicBezTo>
                <a:lnTo>
                  <a:pt x="4355" y="3141"/>
                </a:lnTo>
                <a:close/>
                <a:moveTo>
                  <a:pt x="4979" y="8119"/>
                </a:moveTo>
                <a:lnTo>
                  <a:pt x="4979" y="8743"/>
                </a:lnTo>
                <a:lnTo>
                  <a:pt x="3123" y="8743"/>
                </a:lnTo>
                <a:lnTo>
                  <a:pt x="3123" y="8119"/>
                </a:lnTo>
                <a:close/>
                <a:moveTo>
                  <a:pt x="4072" y="0"/>
                </a:moveTo>
                <a:cubicBezTo>
                  <a:pt x="3212" y="0"/>
                  <a:pt x="2499" y="690"/>
                  <a:pt x="2499" y="1553"/>
                </a:cubicBezTo>
                <a:lnTo>
                  <a:pt x="2499" y="2534"/>
                </a:lnTo>
                <a:cubicBezTo>
                  <a:pt x="1089" y="2695"/>
                  <a:pt x="1" y="3872"/>
                  <a:pt x="1" y="5318"/>
                </a:cubicBezTo>
                <a:cubicBezTo>
                  <a:pt x="1" y="6745"/>
                  <a:pt x="1089" y="7940"/>
                  <a:pt x="2499" y="8101"/>
                </a:cubicBezTo>
                <a:lnTo>
                  <a:pt x="2499" y="10617"/>
                </a:lnTo>
                <a:lnTo>
                  <a:pt x="3123" y="10617"/>
                </a:lnTo>
                <a:lnTo>
                  <a:pt x="3123" y="9350"/>
                </a:lnTo>
                <a:lnTo>
                  <a:pt x="3730" y="9350"/>
                </a:lnTo>
                <a:lnTo>
                  <a:pt x="3730" y="10617"/>
                </a:lnTo>
                <a:lnTo>
                  <a:pt x="4355" y="10617"/>
                </a:lnTo>
                <a:lnTo>
                  <a:pt x="4355" y="9350"/>
                </a:lnTo>
                <a:lnTo>
                  <a:pt x="4979" y="9350"/>
                </a:lnTo>
                <a:lnTo>
                  <a:pt x="4979" y="10617"/>
                </a:lnTo>
                <a:lnTo>
                  <a:pt x="5603" y="10617"/>
                </a:lnTo>
                <a:lnTo>
                  <a:pt x="5603" y="8101"/>
                </a:lnTo>
                <a:cubicBezTo>
                  <a:pt x="6995" y="7940"/>
                  <a:pt x="8101" y="6745"/>
                  <a:pt x="8101" y="5318"/>
                </a:cubicBezTo>
                <a:cubicBezTo>
                  <a:pt x="8101" y="3872"/>
                  <a:pt x="6995" y="2695"/>
                  <a:pt x="5603" y="2534"/>
                </a:cubicBezTo>
                <a:lnTo>
                  <a:pt x="5603" y="1589"/>
                </a:lnTo>
                <a:cubicBezTo>
                  <a:pt x="5603" y="732"/>
                  <a:pt x="4943" y="36"/>
                  <a:pt x="4105" y="1"/>
                </a:cubicBezTo>
                <a:cubicBezTo>
                  <a:pt x="4094" y="0"/>
                  <a:pt x="4083" y="0"/>
                  <a:pt x="407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5" name="Google Shape;685;p69"/>
          <p:cNvGrpSpPr/>
          <p:nvPr/>
        </p:nvGrpSpPr>
        <p:grpSpPr>
          <a:xfrm rot="484655">
            <a:off x="3823702" y="4071344"/>
            <a:ext cx="808412" cy="798550"/>
            <a:chOff x="4772497" y="1789389"/>
            <a:chExt cx="341543" cy="299761"/>
          </a:xfrm>
        </p:grpSpPr>
        <p:sp>
          <p:nvSpPr>
            <p:cNvPr id="686" name="Google Shape;686;p69"/>
            <p:cNvSpPr/>
            <p:nvPr/>
          </p:nvSpPr>
          <p:spPr>
            <a:xfrm>
              <a:off x="4812609" y="1829533"/>
              <a:ext cx="80255" cy="79677"/>
            </a:xfrm>
            <a:custGeom>
              <a:avLst/>
              <a:gdLst/>
              <a:ahLst/>
              <a:cxnLst/>
              <a:rect l="l" t="t" r="r" b="b"/>
              <a:pathLst>
                <a:path w="2499" h="2481" extrusionOk="0">
                  <a:moveTo>
                    <a:pt x="1249" y="625"/>
                  </a:moveTo>
                  <a:cubicBezTo>
                    <a:pt x="1588" y="625"/>
                    <a:pt x="1874" y="911"/>
                    <a:pt x="1874" y="1250"/>
                  </a:cubicBezTo>
                  <a:cubicBezTo>
                    <a:pt x="1874" y="1589"/>
                    <a:pt x="1588" y="1874"/>
                    <a:pt x="1249" y="1874"/>
                  </a:cubicBezTo>
                  <a:cubicBezTo>
                    <a:pt x="910" y="1874"/>
                    <a:pt x="625" y="1589"/>
                    <a:pt x="625" y="1250"/>
                  </a:cubicBezTo>
                  <a:cubicBezTo>
                    <a:pt x="625" y="911"/>
                    <a:pt x="910" y="625"/>
                    <a:pt x="1249" y="625"/>
                  </a:cubicBezTo>
                  <a:close/>
                  <a:moveTo>
                    <a:pt x="1249" y="1"/>
                  </a:moveTo>
                  <a:cubicBezTo>
                    <a:pt x="553" y="1"/>
                    <a:pt x="0" y="554"/>
                    <a:pt x="0" y="1250"/>
                  </a:cubicBezTo>
                  <a:cubicBezTo>
                    <a:pt x="0" y="1928"/>
                    <a:pt x="553" y="2481"/>
                    <a:pt x="1249" y="2481"/>
                  </a:cubicBezTo>
                  <a:cubicBezTo>
                    <a:pt x="1927" y="2481"/>
                    <a:pt x="2498" y="1928"/>
                    <a:pt x="2498" y="1250"/>
                  </a:cubicBezTo>
                  <a:cubicBezTo>
                    <a:pt x="2498" y="554"/>
                    <a:pt x="1927" y="1"/>
                    <a:pt x="12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69"/>
            <p:cNvSpPr/>
            <p:nvPr/>
          </p:nvSpPr>
          <p:spPr>
            <a:xfrm>
              <a:off x="4772497" y="1789389"/>
              <a:ext cx="341543" cy="220116"/>
            </a:xfrm>
            <a:custGeom>
              <a:avLst/>
              <a:gdLst/>
              <a:ahLst/>
              <a:cxnLst/>
              <a:rect l="l" t="t" r="r" b="b"/>
              <a:pathLst>
                <a:path w="10635" h="6854" extrusionOk="0">
                  <a:moveTo>
                    <a:pt x="2498" y="626"/>
                  </a:moveTo>
                  <a:cubicBezTo>
                    <a:pt x="3533" y="626"/>
                    <a:pt x="4354" y="1465"/>
                    <a:pt x="4354" y="2500"/>
                  </a:cubicBezTo>
                  <a:cubicBezTo>
                    <a:pt x="4354" y="3517"/>
                    <a:pt x="3533" y="4355"/>
                    <a:pt x="2498" y="4355"/>
                  </a:cubicBezTo>
                  <a:cubicBezTo>
                    <a:pt x="1463" y="4355"/>
                    <a:pt x="625" y="3517"/>
                    <a:pt x="625" y="2500"/>
                  </a:cubicBezTo>
                  <a:cubicBezTo>
                    <a:pt x="625" y="1465"/>
                    <a:pt x="1463" y="626"/>
                    <a:pt x="2498" y="626"/>
                  </a:cubicBezTo>
                  <a:close/>
                  <a:moveTo>
                    <a:pt x="8136" y="626"/>
                  </a:moveTo>
                  <a:cubicBezTo>
                    <a:pt x="9171" y="626"/>
                    <a:pt x="10010" y="1465"/>
                    <a:pt x="10010" y="2500"/>
                  </a:cubicBezTo>
                  <a:cubicBezTo>
                    <a:pt x="10010" y="3517"/>
                    <a:pt x="9171" y="4355"/>
                    <a:pt x="8136" y="4355"/>
                  </a:cubicBezTo>
                  <a:cubicBezTo>
                    <a:pt x="7102" y="4355"/>
                    <a:pt x="6263" y="3517"/>
                    <a:pt x="6263" y="2500"/>
                  </a:cubicBezTo>
                  <a:cubicBezTo>
                    <a:pt x="6263" y="1465"/>
                    <a:pt x="7102" y="626"/>
                    <a:pt x="8136" y="626"/>
                  </a:cubicBezTo>
                  <a:close/>
                  <a:moveTo>
                    <a:pt x="10010" y="4980"/>
                  </a:moveTo>
                  <a:lnTo>
                    <a:pt x="10010" y="5604"/>
                  </a:lnTo>
                  <a:lnTo>
                    <a:pt x="8761" y="5604"/>
                  </a:lnTo>
                  <a:lnTo>
                    <a:pt x="8761" y="6229"/>
                  </a:lnTo>
                  <a:lnTo>
                    <a:pt x="8136" y="6229"/>
                  </a:lnTo>
                  <a:lnTo>
                    <a:pt x="8136" y="5604"/>
                  </a:lnTo>
                  <a:lnTo>
                    <a:pt x="2498" y="5604"/>
                  </a:lnTo>
                  <a:lnTo>
                    <a:pt x="2498" y="6229"/>
                  </a:lnTo>
                  <a:lnTo>
                    <a:pt x="1874" y="6229"/>
                  </a:lnTo>
                  <a:lnTo>
                    <a:pt x="1874" y="5604"/>
                  </a:lnTo>
                  <a:lnTo>
                    <a:pt x="625" y="5604"/>
                  </a:lnTo>
                  <a:lnTo>
                    <a:pt x="625" y="4980"/>
                  </a:lnTo>
                  <a:close/>
                  <a:moveTo>
                    <a:pt x="2492" y="0"/>
                  </a:moveTo>
                  <a:cubicBezTo>
                    <a:pt x="1125" y="0"/>
                    <a:pt x="0" y="1122"/>
                    <a:pt x="0" y="2500"/>
                  </a:cubicBezTo>
                  <a:cubicBezTo>
                    <a:pt x="0" y="3231"/>
                    <a:pt x="339" y="3909"/>
                    <a:pt x="857" y="4355"/>
                  </a:cubicBezTo>
                  <a:lnTo>
                    <a:pt x="0" y="4355"/>
                  </a:lnTo>
                  <a:lnTo>
                    <a:pt x="0" y="6229"/>
                  </a:lnTo>
                  <a:lnTo>
                    <a:pt x="1249" y="6229"/>
                  </a:lnTo>
                  <a:lnTo>
                    <a:pt x="1249" y="6853"/>
                  </a:lnTo>
                  <a:lnTo>
                    <a:pt x="3123" y="6853"/>
                  </a:lnTo>
                  <a:lnTo>
                    <a:pt x="3123" y="6229"/>
                  </a:lnTo>
                  <a:lnTo>
                    <a:pt x="7512" y="6229"/>
                  </a:lnTo>
                  <a:lnTo>
                    <a:pt x="7512" y="6853"/>
                  </a:lnTo>
                  <a:lnTo>
                    <a:pt x="9385" y="6853"/>
                  </a:lnTo>
                  <a:lnTo>
                    <a:pt x="9385" y="6229"/>
                  </a:lnTo>
                  <a:lnTo>
                    <a:pt x="10617" y="6229"/>
                  </a:lnTo>
                  <a:lnTo>
                    <a:pt x="10617" y="4355"/>
                  </a:lnTo>
                  <a:lnTo>
                    <a:pt x="9778" y="4355"/>
                  </a:lnTo>
                  <a:cubicBezTo>
                    <a:pt x="10295" y="3909"/>
                    <a:pt x="10634" y="3231"/>
                    <a:pt x="10617" y="2482"/>
                  </a:cubicBezTo>
                  <a:cubicBezTo>
                    <a:pt x="10617" y="1162"/>
                    <a:pt x="9564" y="55"/>
                    <a:pt x="8226" y="2"/>
                  </a:cubicBezTo>
                  <a:cubicBezTo>
                    <a:pt x="8194" y="1"/>
                    <a:pt x="8162" y="0"/>
                    <a:pt x="8130" y="0"/>
                  </a:cubicBezTo>
                  <a:cubicBezTo>
                    <a:pt x="6764" y="0"/>
                    <a:pt x="5656" y="1122"/>
                    <a:pt x="5656" y="2500"/>
                  </a:cubicBezTo>
                  <a:cubicBezTo>
                    <a:pt x="5656" y="3231"/>
                    <a:pt x="5977" y="3909"/>
                    <a:pt x="6495" y="4355"/>
                  </a:cubicBezTo>
                  <a:lnTo>
                    <a:pt x="4140" y="4355"/>
                  </a:lnTo>
                  <a:cubicBezTo>
                    <a:pt x="4657" y="3909"/>
                    <a:pt x="4978" y="3231"/>
                    <a:pt x="4978" y="2482"/>
                  </a:cubicBezTo>
                  <a:cubicBezTo>
                    <a:pt x="4978" y="1162"/>
                    <a:pt x="3926" y="55"/>
                    <a:pt x="2587" y="2"/>
                  </a:cubicBezTo>
                  <a:cubicBezTo>
                    <a:pt x="2555" y="1"/>
                    <a:pt x="2524" y="0"/>
                    <a:pt x="24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69"/>
            <p:cNvSpPr/>
            <p:nvPr/>
          </p:nvSpPr>
          <p:spPr>
            <a:xfrm>
              <a:off x="4993673" y="1829533"/>
              <a:ext cx="80255" cy="79677"/>
            </a:xfrm>
            <a:custGeom>
              <a:avLst/>
              <a:gdLst/>
              <a:ahLst/>
              <a:cxnLst/>
              <a:rect l="l" t="t" r="r" b="b"/>
              <a:pathLst>
                <a:path w="2499" h="2481" extrusionOk="0">
                  <a:moveTo>
                    <a:pt x="1249" y="625"/>
                  </a:moveTo>
                  <a:cubicBezTo>
                    <a:pt x="1588" y="625"/>
                    <a:pt x="1874" y="911"/>
                    <a:pt x="1874" y="1250"/>
                  </a:cubicBezTo>
                  <a:cubicBezTo>
                    <a:pt x="1874" y="1589"/>
                    <a:pt x="1588" y="1874"/>
                    <a:pt x="1249" y="1874"/>
                  </a:cubicBezTo>
                  <a:cubicBezTo>
                    <a:pt x="910" y="1874"/>
                    <a:pt x="625" y="1589"/>
                    <a:pt x="625" y="1250"/>
                  </a:cubicBezTo>
                  <a:cubicBezTo>
                    <a:pt x="625" y="911"/>
                    <a:pt x="910" y="625"/>
                    <a:pt x="1249" y="625"/>
                  </a:cubicBezTo>
                  <a:close/>
                  <a:moveTo>
                    <a:pt x="1249" y="1"/>
                  </a:moveTo>
                  <a:cubicBezTo>
                    <a:pt x="571" y="1"/>
                    <a:pt x="0" y="554"/>
                    <a:pt x="0" y="1250"/>
                  </a:cubicBezTo>
                  <a:cubicBezTo>
                    <a:pt x="0" y="1928"/>
                    <a:pt x="571" y="2481"/>
                    <a:pt x="1249" y="2481"/>
                  </a:cubicBezTo>
                  <a:cubicBezTo>
                    <a:pt x="1927" y="2481"/>
                    <a:pt x="2498" y="1928"/>
                    <a:pt x="2498" y="1250"/>
                  </a:cubicBezTo>
                  <a:cubicBezTo>
                    <a:pt x="2498" y="554"/>
                    <a:pt x="1927" y="1"/>
                    <a:pt x="12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69"/>
            <p:cNvSpPr/>
            <p:nvPr/>
          </p:nvSpPr>
          <p:spPr>
            <a:xfrm>
              <a:off x="4793115" y="2029513"/>
              <a:ext cx="299729" cy="20104"/>
            </a:xfrm>
            <a:custGeom>
              <a:avLst/>
              <a:gdLst/>
              <a:ahLst/>
              <a:cxnLst/>
              <a:rect l="l" t="t" r="r" b="b"/>
              <a:pathLst>
                <a:path w="9333" h="626" extrusionOk="0">
                  <a:moveTo>
                    <a:pt x="0" y="1"/>
                  </a:moveTo>
                  <a:lnTo>
                    <a:pt x="0" y="625"/>
                  </a:lnTo>
                  <a:lnTo>
                    <a:pt x="9332" y="625"/>
                  </a:lnTo>
                  <a:lnTo>
                    <a:pt x="933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69"/>
            <p:cNvSpPr/>
            <p:nvPr/>
          </p:nvSpPr>
          <p:spPr>
            <a:xfrm>
              <a:off x="4793115" y="2069079"/>
              <a:ext cx="299729" cy="20072"/>
            </a:xfrm>
            <a:custGeom>
              <a:avLst/>
              <a:gdLst/>
              <a:ahLst/>
              <a:cxnLst/>
              <a:rect l="l" t="t" r="r" b="b"/>
              <a:pathLst>
                <a:path w="9333" h="625" extrusionOk="0">
                  <a:moveTo>
                    <a:pt x="0" y="0"/>
                  </a:moveTo>
                  <a:lnTo>
                    <a:pt x="0" y="625"/>
                  </a:lnTo>
                  <a:lnTo>
                    <a:pt x="9332" y="625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1" name="Google Shape;691;p69"/>
          <p:cNvGrpSpPr/>
          <p:nvPr/>
        </p:nvGrpSpPr>
        <p:grpSpPr>
          <a:xfrm rot="510042">
            <a:off x="7246910" y="3717127"/>
            <a:ext cx="1094994" cy="1191115"/>
            <a:chOff x="5535742" y="1768803"/>
            <a:chExt cx="299729" cy="340965"/>
          </a:xfrm>
        </p:grpSpPr>
        <p:sp>
          <p:nvSpPr>
            <p:cNvPr id="692" name="Google Shape;692;p69"/>
            <p:cNvSpPr/>
            <p:nvPr/>
          </p:nvSpPr>
          <p:spPr>
            <a:xfrm>
              <a:off x="5535742" y="1989979"/>
              <a:ext cx="299729" cy="119789"/>
            </a:xfrm>
            <a:custGeom>
              <a:avLst/>
              <a:gdLst/>
              <a:ahLst/>
              <a:cxnLst/>
              <a:rect l="l" t="t" r="r" b="b"/>
              <a:pathLst>
                <a:path w="9333" h="3730" extrusionOk="0">
                  <a:moveTo>
                    <a:pt x="1321" y="661"/>
                  </a:moveTo>
                  <a:lnTo>
                    <a:pt x="1803" y="3105"/>
                  </a:lnTo>
                  <a:lnTo>
                    <a:pt x="625" y="3105"/>
                  </a:lnTo>
                  <a:lnTo>
                    <a:pt x="625" y="1553"/>
                  </a:lnTo>
                  <a:cubicBezTo>
                    <a:pt x="625" y="1125"/>
                    <a:pt x="928" y="768"/>
                    <a:pt x="1321" y="661"/>
                  </a:cubicBezTo>
                  <a:close/>
                  <a:moveTo>
                    <a:pt x="7405" y="625"/>
                  </a:moveTo>
                  <a:lnTo>
                    <a:pt x="6906" y="3105"/>
                  </a:lnTo>
                  <a:lnTo>
                    <a:pt x="2445" y="3105"/>
                  </a:lnTo>
                  <a:lnTo>
                    <a:pt x="1945" y="625"/>
                  </a:lnTo>
                  <a:lnTo>
                    <a:pt x="4229" y="625"/>
                  </a:lnTo>
                  <a:lnTo>
                    <a:pt x="3605" y="2392"/>
                  </a:lnTo>
                  <a:lnTo>
                    <a:pt x="4194" y="2588"/>
                  </a:lnTo>
                  <a:lnTo>
                    <a:pt x="4675" y="1232"/>
                  </a:lnTo>
                  <a:lnTo>
                    <a:pt x="5157" y="2588"/>
                  </a:lnTo>
                  <a:lnTo>
                    <a:pt x="5746" y="2392"/>
                  </a:lnTo>
                  <a:lnTo>
                    <a:pt x="5121" y="625"/>
                  </a:lnTo>
                  <a:close/>
                  <a:moveTo>
                    <a:pt x="8030" y="661"/>
                  </a:moveTo>
                  <a:cubicBezTo>
                    <a:pt x="8422" y="768"/>
                    <a:pt x="8726" y="1125"/>
                    <a:pt x="8726" y="1553"/>
                  </a:cubicBezTo>
                  <a:lnTo>
                    <a:pt x="8726" y="3105"/>
                  </a:lnTo>
                  <a:lnTo>
                    <a:pt x="7548" y="3105"/>
                  </a:lnTo>
                  <a:lnTo>
                    <a:pt x="8030" y="661"/>
                  </a:lnTo>
                  <a:close/>
                  <a:moveTo>
                    <a:pt x="1571" y="1"/>
                  </a:moveTo>
                  <a:cubicBezTo>
                    <a:pt x="696" y="1"/>
                    <a:pt x="1" y="697"/>
                    <a:pt x="1" y="1553"/>
                  </a:cubicBezTo>
                  <a:lnTo>
                    <a:pt x="1" y="3730"/>
                  </a:lnTo>
                  <a:lnTo>
                    <a:pt x="9332" y="3730"/>
                  </a:lnTo>
                  <a:lnTo>
                    <a:pt x="9332" y="1553"/>
                  </a:lnTo>
                  <a:cubicBezTo>
                    <a:pt x="9332" y="697"/>
                    <a:pt x="8636" y="1"/>
                    <a:pt x="7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69"/>
            <p:cNvSpPr/>
            <p:nvPr/>
          </p:nvSpPr>
          <p:spPr>
            <a:xfrm>
              <a:off x="5575854" y="1768803"/>
              <a:ext cx="220084" cy="221272"/>
            </a:xfrm>
            <a:custGeom>
              <a:avLst/>
              <a:gdLst/>
              <a:ahLst/>
              <a:cxnLst/>
              <a:rect l="l" t="t" r="r" b="b"/>
              <a:pathLst>
                <a:path w="6853" h="6890" extrusionOk="0">
                  <a:moveTo>
                    <a:pt x="4069" y="625"/>
                  </a:moveTo>
                  <a:lnTo>
                    <a:pt x="4318" y="3123"/>
                  </a:lnTo>
                  <a:lnTo>
                    <a:pt x="2516" y="3123"/>
                  </a:lnTo>
                  <a:lnTo>
                    <a:pt x="2766" y="625"/>
                  </a:lnTo>
                  <a:close/>
                  <a:moveTo>
                    <a:pt x="4354" y="3730"/>
                  </a:moveTo>
                  <a:lnTo>
                    <a:pt x="4354" y="5335"/>
                  </a:lnTo>
                  <a:cubicBezTo>
                    <a:pt x="4354" y="5850"/>
                    <a:pt x="3942" y="6265"/>
                    <a:pt x="3435" y="6265"/>
                  </a:cubicBezTo>
                  <a:cubicBezTo>
                    <a:pt x="3414" y="6265"/>
                    <a:pt x="3394" y="6265"/>
                    <a:pt x="3373" y="6263"/>
                  </a:cubicBezTo>
                  <a:cubicBezTo>
                    <a:pt x="2891" y="6245"/>
                    <a:pt x="2499" y="5799"/>
                    <a:pt x="2499" y="5318"/>
                  </a:cubicBezTo>
                  <a:lnTo>
                    <a:pt x="2499" y="3730"/>
                  </a:lnTo>
                  <a:close/>
                  <a:moveTo>
                    <a:pt x="2213" y="1"/>
                  </a:moveTo>
                  <a:lnTo>
                    <a:pt x="1892" y="3123"/>
                  </a:lnTo>
                  <a:lnTo>
                    <a:pt x="1" y="3123"/>
                  </a:lnTo>
                  <a:lnTo>
                    <a:pt x="1" y="3730"/>
                  </a:lnTo>
                  <a:lnTo>
                    <a:pt x="1874" y="3730"/>
                  </a:lnTo>
                  <a:lnTo>
                    <a:pt x="1874" y="5318"/>
                  </a:lnTo>
                  <a:cubicBezTo>
                    <a:pt x="1874" y="6156"/>
                    <a:pt x="2534" y="6852"/>
                    <a:pt x="3373" y="6888"/>
                  </a:cubicBezTo>
                  <a:cubicBezTo>
                    <a:pt x="3394" y="6889"/>
                    <a:pt x="3415" y="6889"/>
                    <a:pt x="3436" y="6889"/>
                  </a:cubicBezTo>
                  <a:cubicBezTo>
                    <a:pt x="4282" y="6889"/>
                    <a:pt x="4979" y="6189"/>
                    <a:pt x="4979" y="5335"/>
                  </a:cubicBezTo>
                  <a:lnTo>
                    <a:pt x="4979" y="3730"/>
                  </a:lnTo>
                  <a:lnTo>
                    <a:pt x="6852" y="3730"/>
                  </a:lnTo>
                  <a:lnTo>
                    <a:pt x="6852" y="3123"/>
                  </a:lnTo>
                  <a:lnTo>
                    <a:pt x="4943" y="3123"/>
                  </a:lnTo>
                  <a:lnTo>
                    <a:pt x="464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3BE6131-AB65-B7E4-00F4-BFB7EA9B06AF}"/>
              </a:ext>
            </a:extLst>
          </p:cNvPr>
          <p:cNvSpPr txBox="1">
            <a:spLocks/>
          </p:cNvSpPr>
          <p:nvPr/>
        </p:nvSpPr>
        <p:spPr>
          <a:xfrm>
            <a:off x="851858" y="1685477"/>
            <a:ext cx="7510923" cy="3399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Culturally competent practice involves understanding and respecting the cultural backgrounds of clients and adapting social work interventions to meet their unique needs.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Provide effective and equitable services to diverse populations.</a:t>
            </a:r>
          </a:p>
          <a:p>
            <a:endParaRPr lang="en-PK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38EB825-72E4-EB48-812C-BF762F374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89" y="365125"/>
            <a:ext cx="8042753" cy="1320352"/>
          </a:xfrm>
        </p:spPr>
        <p:txBody>
          <a:bodyPr/>
          <a:lstStyle/>
          <a:p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Culturally Competent Practice</a:t>
            </a:r>
            <a:endParaRPr lang="en-PK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78"/>
          <p:cNvSpPr txBox="1">
            <a:spLocks noGrp="1"/>
          </p:cNvSpPr>
          <p:nvPr>
            <p:ph type="title"/>
          </p:nvPr>
        </p:nvSpPr>
        <p:spPr>
          <a:xfrm>
            <a:off x="4581520" y="1194595"/>
            <a:ext cx="1892154" cy="85050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Recognize Ethnocentricity</a:t>
            </a:r>
            <a:endParaRPr dirty="0"/>
          </a:p>
        </p:txBody>
      </p:sp>
      <p:sp>
        <p:nvSpPr>
          <p:cNvPr id="813" name="Google Shape;813;p78"/>
          <p:cNvSpPr txBox="1">
            <a:spLocks noGrp="1"/>
          </p:cNvSpPr>
          <p:nvPr>
            <p:ph type="subTitle" idx="1"/>
          </p:nvPr>
        </p:nvSpPr>
        <p:spPr>
          <a:xfrm>
            <a:off x="4644625" y="2273890"/>
            <a:ext cx="1919546" cy="27639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assuming that one’s own culture is superior or the norm.</a:t>
            </a:r>
          </a:p>
          <a:p>
            <a:pPr marL="0" indent="0">
              <a:buNone/>
            </a:pP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social worker from an urban area avoiding judgment when working with rural clients who have different lifestyles.</a:t>
            </a:r>
          </a:p>
        </p:txBody>
      </p:sp>
      <p:sp>
        <p:nvSpPr>
          <p:cNvPr id="814" name="Google Shape;814;p78"/>
          <p:cNvSpPr txBox="1">
            <a:spLocks noGrp="1"/>
          </p:cNvSpPr>
          <p:nvPr>
            <p:ph type="title" idx="2"/>
          </p:nvPr>
        </p:nvSpPr>
        <p:spPr>
          <a:xfrm>
            <a:off x="6777555" y="1256186"/>
            <a:ext cx="1788600" cy="101770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Learn About Other Cultures</a:t>
            </a:r>
            <a:endParaRPr dirty="0"/>
          </a:p>
        </p:txBody>
      </p:sp>
      <p:sp>
        <p:nvSpPr>
          <p:cNvPr id="815" name="Google Shape;815;p78"/>
          <p:cNvSpPr txBox="1">
            <a:spLocks noGrp="1"/>
          </p:cNvSpPr>
          <p:nvPr>
            <p:ph type="subTitle" idx="3"/>
          </p:nvPr>
        </p:nvSpPr>
        <p:spPr>
          <a:xfrm>
            <a:off x="6777555" y="2291835"/>
            <a:ext cx="2115924" cy="27639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 knowledge about the cultural practices, values, and beliefs of the populations served.</a:t>
            </a:r>
          </a:p>
          <a:p>
            <a:pPr marL="0" indent="0">
              <a:buNone/>
            </a:pP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about the significance of Ramadan for Muslim clients and scheduling appointments accordingly.</a:t>
            </a:r>
          </a:p>
        </p:txBody>
      </p:sp>
      <p:sp>
        <p:nvSpPr>
          <p:cNvPr id="816" name="Google Shape;816;p78"/>
          <p:cNvSpPr txBox="1">
            <a:spLocks noGrp="1"/>
          </p:cNvSpPr>
          <p:nvPr>
            <p:ph type="subTitle" idx="5"/>
          </p:nvPr>
        </p:nvSpPr>
        <p:spPr>
          <a:xfrm>
            <a:off x="2415015" y="2234126"/>
            <a:ext cx="2297746" cy="30268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workers must reflect on their own cultural biases and how these may affect their practice.</a:t>
            </a:r>
          </a:p>
          <a:p>
            <a:pPr marL="0" indent="0"/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white social worker reflecting on their privilege and how it may impact their interactions with clients of color.</a:t>
            </a:r>
          </a:p>
        </p:txBody>
      </p:sp>
      <p:sp>
        <p:nvSpPr>
          <p:cNvPr id="817" name="Google Shape;817;p78"/>
          <p:cNvSpPr txBox="1">
            <a:spLocks noGrp="1"/>
          </p:cNvSpPr>
          <p:nvPr>
            <p:ph type="title" idx="6"/>
          </p:nvPr>
        </p:nvSpPr>
        <p:spPr>
          <a:xfrm>
            <a:off x="626414" y="1189778"/>
            <a:ext cx="1788600" cy="9725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Awareness of Culture and Its Influence</a:t>
            </a:r>
          </a:p>
        </p:txBody>
      </p:sp>
      <p:sp>
        <p:nvSpPr>
          <p:cNvPr id="818" name="Google Shape;818;p78"/>
          <p:cNvSpPr txBox="1">
            <a:spLocks noGrp="1"/>
          </p:cNvSpPr>
          <p:nvPr>
            <p:ph type="subTitle" idx="7"/>
          </p:nvPr>
        </p:nvSpPr>
        <p:spPr>
          <a:xfrm>
            <a:off x="388307" y="2273891"/>
            <a:ext cx="2191524" cy="28978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 how culture shapes behavior, values, and beliefs.</a:t>
            </a:r>
          </a:p>
          <a:p>
            <a:pPr marL="0" indent="0"/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how collectivist cultures (e.g., many Asian cultures) prioritize family over individual needs.</a:t>
            </a:r>
          </a:p>
        </p:txBody>
      </p:sp>
      <p:sp>
        <p:nvSpPr>
          <p:cNvPr id="819" name="Google Shape;819;p78"/>
          <p:cNvSpPr txBox="1">
            <a:spLocks noGrp="1"/>
          </p:cNvSpPr>
          <p:nvPr>
            <p:ph type="title" idx="4"/>
          </p:nvPr>
        </p:nvSpPr>
        <p:spPr>
          <a:xfrm>
            <a:off x="2579831" y="965810"/>
            <a:ext cx="1788600" cy="130808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About One’s Own Culture</a:t>
            </a:r>
            <a:endParaRPr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F27B4FF-321A-7F67-1B33-665CFEFC4C63}"/>
              </a:ext>
            </a:extLst>
          </p:cNvPr>
          <p:cNvSpPr txBox="1">
            <a:spLocks/>
          </p:cNvSpPr>
          <p:nvPr/>
        </p:nvSpPr>
        <p:spPr>
          <a:xfrm>
            <a:off x="126668" y="82781"/>
            <a:ext cx="8483525" cy="850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0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9pPr>
          </a:lstStyle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 of Cultural Competence</a:t>
            </a:r>
            <a:endParaRPr lang="en-PK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1">
          <a:extLst>
            <a:ext uri="{FF2B5EF4-FFF2-40B4-BE49-F238E27FC236}">
              <a16:creationId xmlns:a16="http://schemas.microsoft.com/office/drawing/2014/main" id="{8474CEFB-98B5-109F-C3A4-44D4DA815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78">
            <a:extLst>
              <a:ext uri="{FF2B5EF4-FFF2-40B4-BE49-F238E27FC236}">
                <a16:creationId xmlns:a16="http://schemas.microsoft.com/office/drawing/2014/main" id="{8BDE85AB-F949-A04D-CE5E-5E85521B736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6578142" y="1372558"/>
            <a:ext cx="2565858" cy="101770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Engage in ongoing education to improve cultural competence.</a:t>
            </a:r>
            <a:endParaRPr dirty="0"/>
          </a:p>
        </p:txBody>
      </p:sp>
      <p:sp>
        <p:nvSpPr>
          <p:cNvPr id="815" name="Google Shape;815;p78">
            <a:extLst>
              <a:ext uri="{FF2B5EF4-FFF2-40B4-BE49-F238E27FC236}">
                <a16:creationId xmlns:a16="http://schemas.microsoft.com/office/drawing/2014/main" id="{7DBE0E1C-7088-87C1-8052-56E8D0DDC048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6803109" y="2751019"/>
            <a:ext cx="2115924" cy="27639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 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Attending workshops on working with refugee populations clients.</a:t>
            </a:r>
          </a:p>
        </p:txBody>
      </p:sp>
      <p:sp>
        <p:nvSpPr>
          <p:cNvPr id="816" name="Google Shape;816;p78">
            <a:extLst>
              <a:ext uri="{FF2B5EF4-FFF2-40B4-BE49-F238E27FC236}">
                <a16:creationId xmlns:a16="http://schemas.microsoft.com/office/drawing/2014/main" id="{CA450395-0B61-164C-DB26-768124FDBB0D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2497421" y="2751019"/>
            <a:ext cx="4149157" cy="19435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 how policies may disproportionately affect marginalized groups and work to change them.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600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 </a:t>
            </a:r>
            <a:r>
              <a:rPr lang="en-US" sz="16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Advocating for policy changes to address racial disparities in healthcare access.</a:t>
            </a:r>
            <a:endParaRPr 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7" name="Google Shape;817;p78">
            <a:extLst>
              <a:ext uri="{FF2B5EF4-FFF2-40B4-BE49-F238E27FC236}">
                <a16:creationId xmlns:a16="http://schemas.microsoft.com/office/drawing/2014/main" id="{B9E20AE5-287C-132F-5E1B-F02DF549148F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388307" y="1372558"/>
            <a:ext cx="2026707" cy="108411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Adapt Social Work Skills and Interventions</a:t>
            </a:r>
          </a:p>
        </p:txBody>
      </p:sp>
      <p:sp>
        <p:nvSpPr>
          <p:cNvPr id="818" name="Google Shape;818;p78">
            <a:extLst>
              <a:ext uri="{FF2B5EF4-FFF2-40B4-BE49-F238E27FC236}">
                <a16:creationId xmlns:a16="http://schemas.microsoft.com/office/drawing/2014/main" id="{FE7AB6F3-65CE-CAC7-FA3A-17B6F995F8C3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388307" y="2574855"/>
            <a:ext cx="2191524" cy="21979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 interventions to align with the cultural context of the client.</a:t>
            </a:r>
          </a:p>
          <a:p>
            <a:pPr marL="0" indent="0">
              <a:buNone/>
            </a:pP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family-based interventions for clients from cultures that value familial interdependence.</a:t>
            </a:r>
          </a:p>
        </p:txBody>
      </p:sp>
      <p:sp>
        <p:nvSpPr>
          <p:cNvPr id="819" name="Google Shape;819;p78">
            <a:extLst>
              <a:ext uri="{FF2B5EF4-FFF2-40B4-BE49-F238E27FC236}">
                <a16:creationId xmlns:a16="http://schemas.microsoft.com/office/drawing/2014/main" id="{2E6DD501-A69B-003E-CDCD-DE013A1CF376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2579830" y="1260565"/>
            <a:ext cx="3833495" cy="130808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F. Be Knowledgeable About Community Resources and Services, and Make Appropriate Referrals for Diverse Clients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192D284-FE2A-BDCC-C040-10F4415B904E}"/>
              </a:ext>
            </a:extLst>
          </p:cNvPr>
          <p:cNvSpPr txBox="1">
            <a:spLocks/>
          </p:cNvSpPr>
          <p:nvPr/>
        </p:nvSpPr>
        <p:spPr>
          <a:xfrm>
            <a:off x="126668" y="82781"/>
            <a:ext cx="8483525" cy="850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0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9pPr>
          </a:lstStyle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 of Cultural Competence</a:t>
            </a:r>
            <a:endParaRPr lang="en-PK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64222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1">
          <a:extLst>
            <a:ext uri="{FF2B5EF4-FFF2-40B4-BE49-F238E27FC236}">
              <a16:creationId xmlns:a16="http://schemas.microsoft.com/office/drawing/2014/main" id="{B84AD4F2-237F-3348-984C-7185FFD41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C2230EC-EDDE-124F-87F5-8214D5964F3D}"/>
              </a:ext>
            </a:extLst>
          </p:cNvPr>
          <p:cNvSpPr txBox="1">
            <a:spLocks/>
          </p:cNvSpPr>
          <p:nvPr/>
        </p:nvSpPr>
        <p:spPr>
          <a:xfrm>
            <a:off x="200416" y="525778"/>
            <a:ext cx="8497466" cy="5198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indent="0" algn="just"/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H. Advocate for Personnel Practices (in Hiring, Admissions, and Retention) in Social Work Agencies and Educational Programs That Facilitate Diversity Within the Social Work Profession</a:t>
            </a:r>
          </a:p>
          <a:p>
            <a:pPr marL="0" indent="0" algn="just"/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Encouraging agencies to hire bilingual staff to better serve non-English-speaking clients.</a:t>
            </a:r>
          </a:p>
          <a:p>
            <a:pPr marL="0" indent="0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 Function in Accordance with the Ethics, Values, and Standards of the Profession</a:t>
            </a:r>
          </a:p>
          <a:p>
            <a:pPr marL="0" indent="0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that all interventions are ethical and respect clients’ rights and dignity.</a:t>
            </a:r>
          </a:p>
          <a:p>
            <a:pPr marL="0" indent="0" algn="just">
              <a:buNone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Advocating for a client’s right to practice their religion, even if it differs from the social worker’s beliefs.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Ensure that clients can access services in their preferred language.</a:t>
            </a:r>
          </a:p>
          <a:p>
            <a:pPr marL="0" indent="0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language barriers to ensure clients fully understand their rights and options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Example: Providing translated materials or using interpreters for non-English-speaking clients.</a:t>
            </a:r>
            <a:endParaRPr lang="en-PK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7841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73"/>
          <p:cNvSpPr txBox="1">
            <a:spLocks noGrp="1"/>
          </p:cNvSpPr>
          <p:nvPr>
            <p:ph type="subTitle" idx="1"/>
          </p:nvPr>
        </p:nvSpPr>
        <p:spPr>
          <a:xfrm>
            <a:off x="275573" y="1224116"/>
            <a:ext cx="8868427" cy="39193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0" indent="0" algn="l">
              <a:spcBef>
                <a:spcPts val="300"/>
              </a:spcBef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Cultural Competence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acquiring knowledge about other cultures to provide better services.</a:t>
            </a:r>
          </a:p>
          <a:p>
            <a:pPr marL="127000" indent="0" algn="l">
              <a:spcBef>
                <a:spcPts val="300"/>
              </a:spcBef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Cultural Humility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Emphasizes lifelong self-reflection, recognizing power imbalances, and learning from clients.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tool that should b used by social workers to gain more insight into their biases and to better connect with members of diverse groups.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social worker acknowledging that they will never fully understand another culture but committing to learning and growing.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9C35A2E-F076-68DC-9EC8-AC6113C4D2A1}"/>
              </a:ext>
            </a:extLst>
          </p:cNvPr>
          <p:cNvSpPr txBox="1">
            <a:spLocks/>
          </p:cNvSpPr>
          <p:nvPr/>
        </p:nvSpPr>
        <p:spPr>
          <a:xfrm>
            <a:off x="0" y="320978"/>
            <a:ext cx="9143999" cy="903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0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ulim Park"/>
              <a:buNone/>
              <a:defRPr sz="2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9pPr>
          </a:lstStyle>
          <a:p>
            <a:r>
              <a:rPr lang="en-US" sz="3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Cultural Competence vs Cultural Humility</a:t>
            </a:r>
            <a:r>
              <a:rPr lang="en-US" sz="3800" dirty="0">
                <a:solidFill>
                  <a:schemeClr val="bg1"/>
                </a:solidFill>
              </a:rPr>
              <a:t> </a:t>
            </a:r>
            <a:endParaRPr lang="en-PK" sz="3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AB3CE62-3BFA-374A-9A64-DB58614AD2FB}"/>
              </a:ext>
            </a:extLst>
          </p:cNvPr>
          <p:cNvSpPr txBox="1">
            <a:spLocks/>
          </p:cNvSpPr>
          <p:nvPr/>
        </p:nvSpPr>
        <p:spPr>
          <a:xfrm>
            <a:off x="-138830" y="792162"/>
            <a:ext cx="903230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lvl="1" indent="-457200" algn="l">
              <a:spcBef>
                <a:spcPts val="300"/>
              </a:spcBef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Lifelong Commitment to Self-Evaluation and Self-Critique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Cultural humility requires social workers to engage in continuous self-reflection and critique of their own biases, assumptions, and privileges.</a:t>
            </a:r>
          </a:p>
          <a:p>
            <a:pPr lvl="1" indent="-457200" algn="l">
              <a:spcBef>
                <a:spcPts val="300"/>
              </a:spcBef>
              <a:buFont typeface="+mj-lt"/>
              <a:buAutoNum type="arabicPeriod" startAt="2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Commitment to Fixing Power Imbalances Where No Power Imbalance Ought to Exist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workers must recognize and address power imbalances in their relationships with clients and within broader systems.</a:t>
            </a:r>
          </a:p>
          <a:p>
            <a:pPr lvl="1" indent="-457200" algn="l">
              <a:spcBef>
                <a:spcPts val="300"/>
              </a:spcBef>
              <a:buFont typeface="+mj-lt"/>
              <a:buAutoNum type="arabicPeriod" startAt="3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Commitment to Developing Partnerships with People and Groups Who Advocate for Advancing the Human Rights of Members of Diverse Groups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Engagement: Partner with organizations that represent the interests of diverse populations to promote human rights and social justice.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PK" sz="180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EA145E2-0CF2-3A90-216E-8C17C088E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520" y="200416"/>
            <a:ext cx="7928976" cy="776614"/>
          </a:xfrm>
        </p:spPr>
        <p:txBody>
          <a:bodyPr>
            <a:normAutofit/>
          </a:bodyPr>
          <a:lstStyle/>
          <a:p>
            <a:r>
              <a:rPr lang="en-US" sz="36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Three Factors of Cultural Humility</a:t>
            </a:r>
            <a:endParaRPr lang="en-PK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82"/>
          <p:cNvSpPr/>
          <p:nvPr/>
        </p:nvSpPr>
        <p:spPr>
          <a:xfrm>
            <a:off x="876549" y="3199143"/>
            <a:ext cx="1350837" cy="973145"/>
          </a:xfrm>
          <a:custGeom>
            <a:avLst/>
            <a:gdLst/>
            <a:ahLst/>
            <a:cxnLst/>
            <a:rect l="l" t="t" r="r" b="b"/>
            <a:pathLst>
              <a:path w="18827" h="13563" extrusionOk="0">
                <a:moveTo>
                  <a:pt x="7161" y="0"/>
                </a:moveTo>
                <a:cubicBezTo>
                  <a:pt x="6367" y="0"/>
                  <a:pt x="5745" y="97"/>
                  <a:pt x="5462" y="302"/>
                </a:cubicBezTo>
                <a:cubicBezTo>
                  <a:pt x="5439" y="302"/>
                  <a:pt x="5416" y="302"/>
                  <a:pt x="5393" y="302"/>
                </a:cubicBezTo>
                <a:cubicBezTo>
                  <a:pt x="1116" y="302"/>
                  <a:pt x="1" y="5785"/>
                  <a:pt x="370" y="9035"/>
                </a:cubicBezTo>
                <a:cubicBezTo>
                  <a:pt x="734" y="12239"/>
                  <a:pt x="5348" y="13486"/>
                  <a:pt x="7931" y="13560"/>
                </a:cubicBezTo>
                <a:cubicBezTo>
                  <a:pt x="7975" y="13562"/>
                  <a:pt x="8020" y="13562"/>
                  <a:pt x="8064" y="13562"/>
                </a:cubicBezTo>
                <a:cubicBezTo>
                  <a:pt x="13120" y="13562"/>
                  <a:pt x="18826" y="5169"/>
                  <a:pt x="13911" y="1714"/>
                </a:cubicBezTo>
                <a:cubicBezTo>
                  <a:pt x="12377" y="637"/>
                  <a:pt x="9200" y="0"/>
                  <a:pt x="7161" y="0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4" name="Google Shape;874;p82"/>
          <p:cNvSpPr/>
          <p:nvPr/>
        </p:nvSpPr>
        <p:spPr>
          <a:xfrm flipH="1">
            <a:off x="6007618" y="3160254"/>
            <a:ext cx="1350837" cy="973145"/>
          </a:xfrm>
          <a:custGeom>
            <a:avLst/>
            <a:gdLst/>
            <a:ahLst/>
            <a:cxnLst/>
            <a:rect l="l" t="t" r="r" b="b"/>
            <a:pathLst>
              <a:path w="18827" h="13563" extrusionOk="0">
                <a:moveTo>
                  <a:pt x="7161" y="0"/>
                </a:moveTo>
                <a:cubicBezTo>
                  <a:pt x="6367" y="0"/>
                  <a:pt x="5745" y="97"/>
                  <a:pt x="5462" y="302"/>
                </a:cubicBezTo>
                <a:cubicBezTo>
                  <a:pt x="5439" y="302"/>
                  <a:pt x="5416" y="302"/>
                  <a:pt x="5393" y="302"/>
                </a:cubicBezTo>
                <a:cubicBezTo>
                  <a:pt x="1116" y="302"/>
                  <a:pt x="1" y="5785"/>
                  <a:pt x="370" y="9035"/>
                </a:cubicBezTo>
                <a:cubicBezTo>
                  <a:pt x="734" y="12239"/>
                  <a:pt x="5348" y="13486"/>
                  <a:pt x="7931" y="13560"/>
                </a:cubicBezTo>
                <a:cubicBezTo>
                  <a:pt x="7975" y="13562"/>
                  <a:pt x="8020" y="13562"/>
                  <a:pt x="8064" y="13562"/>
                </a:cubicBezTo>
                <a:cubicBezTo>
                  <a:pt x="13120" y="13562"/>
                  <a:pt x="18826" y="5169"/>
                  <a:pt x="13911" y="1714"/>
                </a:cubicBezTo>
                <a:cubicBezTo>
                  <a:pt x="12377" y="637"/>
                  <a:pt x="9200" y="0"/>
                  <a:pt x="7161" y="0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6" name="Google Shape;876;p82"/>
          <p:cNvSpPr/>
          <p:nvPr/>
        </p:nvSpPr>
        <p:spPr>
          <a:xfrm>
            <a:off x="3572993" y="3199144"/>
            <a:ext cx="1155176" cy="973144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7" name="Google Shape;877;p82"/>
          <p:cNvSpPr txBox="1"/>
          <p:nvPr/>
        </p:nvSpPr>
        <p:spPr>
          <a:xfrm>
            <a:off x="898575" y="3461925"/>
            <a:ext cx="10950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lt1"/>
                </a:solidFill>
                <a:latin typeface="Kulim Park"/>
                <a:ea typeface="Kulim Park"/>
                <a:cs typeface="Kulim Park"/>
                <a:sym typeface="Kulim Park"/>
              </a:rPr>
              <a:t>R</a:t>
            </a:r>
            <a:endParaRPr sz="3600" dirty="0">
              <a:solidFill>
                <a:schemeClr val="lt1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  <p:sp>
        <p:nvSpPr>
          <p:cNvPr id="879" name="Google Shape;879;p82"/>
          <p:cNvSpPr txBox="1"/>
          <p:nvPr/>
        </p:nvSpPr>
        <p:spPr>
          <a:xfrm>
            <a:off x="3606455" y="3463329"/>
            <a:ext cx="10950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lt1"/>
                </a:solidFill>
                <a:latin typeface="Kulim Park"/>
                <a:ea typeface="Kulim Park"/>
                <a:cs typeface="Kulim Park"/>
                <a:sym typeface="Kulim Park"/>
              </a:rPr>
              <a:t>A</a:t>
            </a:r>
            <a:endParaRPr sz="3600" dirty="0">
              <a:solidFill>
                <a:schemeClr val="lt1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  <p:cxnSp>
        <p:nvCxnSpPr>
          <p:cNvPr id="881" name="Google Shape;881;p82"/>
          <p:cNvCxnSpPr>
            <a:stCxn id="877" idx="3"/>
            <a:endCxn id="879" idx="1"/>
          </p:cNvCxnSpPr>
          <p:nvPr/>
        </p:nvCxnSpPr>
        <p:spPr>
          <a:xfrm>
            <a:off x="1993575" y="3685725"/>
            <a:ext cx="1612880" cy="1404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5" name="Google Shape;885;p82"/>
          <p:cNvSpPr txBox="1">
            <a:spLocks noGrp="1"/>
          </p:cNvSpPr>
          <p:nvPr>
            <p:ph type="subTitle" idx="4294967295"/>
          </p:nvPr>
        </p:nvSpPr>
        <p:spPr>
          <a:xfrm>
            <a:off x="584524" y="2160293"/>
            <a:ext cx="1865565" cy="12722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Recognize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 aware of racial dynamics and differences.</a:t>
            </a:r>
            <a:endParaRPr sz="1800" dirty="0"/>
          </a:p>
        </p:txBody>
      </p:sp>
      <p:sp>
        <p:nvSpPr>
          <p:cNvPr id="887" name="Google Shape;887;p82"/>
          <p:cNvSpPr txBox="1">
            <a:spLocks noGrp="1"/>
          </p:cNvSpPr>
          <p:nvPr>
            <p:ph type="subTitle" idx="4294967295"/>
          </p:nvPr>
        </p:nvSpPr>
        <p:spPr>
          <a:xfrm>
            <a:off x="3321139" y="2160293"/>
            <a:ext cx="1843639" cy="11232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Anticipate</a:t>
            </a:r>
          </a:p>
          <a:p>
            <a:pPr marL="0" indent="0" algn="ctr">
              <a:buNone/>
            </a:pPr>
            <a:r>
              <a:rPr lang="en-US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Prepare for racial tensions and issues.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8787D37-0AB1-9733-A4ED-09792C0F6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574" y="175265"/>
            <a:ext cx="7171951" cy="1216432"/>
          </a:xfrm>
        </p:spPr>
        <p:txBody>
          <a:bodyPr/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RAP Framework</a:t>
            </a:r>
            <a:endParaRPr lang="en-PK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BA9F42-2085-157B-D953-9A592DF2252E}"/>
              </a:ext>
            </a:extLst>
          </p:cNvPr>
          <p:cNvSpPr txBox="1"/>
          <p:nvPr/>
        </p:nvSpPr>
        <p:spPr>
          <a:xfrm>
            <a:off x="648435" y="1183186"/>
            <a:ext cx="78567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RAP framework helps group leaders navigate racial dynamics in multiracial groups by recognizing differences, anticipating tensions, and problem-solving effectively.</a:t>
            </a:r>
          </a:p>
        </p:txBody>
      </p:sp>
      <p:sp>
        <p:nvSpPr>
          <p:cNvPr id="8" name="Google Shape;887;p82">
            <a:extLst>
              <a:ext uri="{FF2B5EF4-FFF2-40B4-BE49-F238E27FC236}">
                <a16:creationId xmlns:a16="http://schemas.microsoft.com/office/drawing/2014/main" id="{F2F61069-2CB6-F731-A29B-25B1EC5D390F}"/>
              </a:ext>
            </a:extLst>
          </p:cNvPr>
          <p:cNvSpPr txBox="1">
            <a:spLocks/>
          </p:cNvSpPr>
          <p:nvPr/>
        </p:nvSpPr>
        <p:spPr>
          <a:xfrm>
            <a:off x="5679678" y="2107646"/>
            <a:ext cx="2600026" cy="1090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●"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○"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■"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●"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○"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■"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●"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○"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■"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indent="0" algn="ctr">
              <a:buFont typeface="Manrope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Problem-Solve</a:t>
            </a:r>
          </a:p>
          <a:p>
            <a:pPr marL="0" indent="0" algn="ctr">
              <a:buFont typeface="Manrope"/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conflict resolution and culturally appropriate interventions.</a:t>
            </a:r>
          </a:p>
          <a:p>
            <a:pPr marL="0" indent="0" algn="ctr">
              <a:buFont typeface="Manrope"/>
              <a:buNone/>
            </a:pPr>
            <a:endParaRPr lang="en-US" sz="1800" dirty="0"/>
          </a:p>
        </p:txBody>
      </p:sp>
      <p:cxnSp>
        <p:nvCxnSpPr>
          <p:cNvPr id="11" name="Google Shape;881;p82">
            <a:extLst>
              <a:ext uri="{FF2B5EF4-FFF2-40B4-BE49-F238E27FC236}">
                <a16:creationId xmlns:a16="http://schemas.microsoft.com/office/drawing/2014/main" id="{B5CC1C8B-F528-FFF3-AF19-A50EF1590E36}"/>
              </a:ext>
            </a:extLst>
          </p:cNvPr>
          <p:cNvCxnSpPr/>
          <p:nvPr/>
        </p:nvCxnSpPr>
        <p:spPr>
          <a:xfrm>
            <a:off x="4701455" y="3684311"/>
            <a:ext cx="1612880" cy="1404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Google Shape;879;p82">
            <a:extLst>
              <a:ext uri="{FF2B5EF4-FFF2-40B4-BE49-F238E27FC236}">
                <a16:creationId xmlns:a16="http://schemas.microsoft.com/office/drawing/2014/main" id="{BDE57125-A896-D8DA-1C55-20CAF36605AA}"/>
              </a:ext>
            </a:extLst>
          </p:cNvPr>
          <p:cNvSpPr txBox="1"/>
          <p:nvPr/>
        </p:nvSpPr>
        <p:spPr>
          <a:xfrm>
            <a:off x="6276449" y="3423026"/>
            <a:ext cx="10950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lt1"/>
                </a:solidFill>
                <a:latin typeface="Kulim Park"/>
                <a:ea typeface="Kulim Park"/>
                <a:cs typeface="Kulim Park"/>
                <a:sym typeface="Kulim Park"/>
              </a:rPr>
              <a:t>P</a:t>
            </a:r>
            <a:endParaRPr sz="3600" dirty="0">
              <a:solidFill>
                <a:schemeClr val="lt1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>
          <a:extLst>
            <a:ext uri="{FF2B5EF4-FFF2-40B4-BE49-F238E27FC236}">
              <a16:creationId xmlns:a16="http://schemas.microsoft.com/office/drawing/2014/main" id="{87E1EFAE-37C9-0599-7B04-D8DB4B335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ADDF8FA-1CC6-ACF7-AEEB-3A335411625B}"/>
              </a:ext>
            </a:extLst>
          </p:cNvPr>
          <p:cNvSpPr txBox="1">
            <a:spLocks/>
          </p:cNvSpPr>
          <p:nvPr/>
        </p:nvSpPr>
        <p:spPr>
          <a:xfrm>
            <a:off x="702561" y="1148987"/>
            <a:ext cx="7308104" cy="4419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87313" indent="0" algn="l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 and understand the racial, ethnic, and cultural differences within the group and self.</a:t>
            </a:r>
          </a:p>
          <a:p>
            <a:pPr marL="87313" indent="0"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Self-Awareness: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aware of your own values, biases, and stereotypes.</a:t>
            </a:r>
          </a:p>
          <a:p>
            <a:pPr marL="87313" indent="0"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Awareness of Group Dynamics: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 the racial and cultural differences among group members.</a:t>
            </a:r>
          </a:p>
          <a:p>
            <a:pPr marL="87313" indent="0"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Respect for Cultural Norms: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respect for the customs, traditions, and communication styles of different racial and ethnic groups.</a:t>
            </a:r>
          </a:p>
          <a:p>
            <a:pPr marL="87313" indent="0"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Familiarity with Community Resources: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 local resources (e.g., community leaders, agencies) that can support the racial and ethnic groups represented in the group.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FB15AD-0D51-5850-E8B8-69E67B606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097055" cy="439733"/>
          </a:xfrm>
        </p:spPr>
        <p:txBody>
          <a:bodyPr/>
          <a:lstStyle/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Recognize</a:t>
            </a:r>
            <a:endParaRPr lang="en-PK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77735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>
          <a:extLst>
            <a:ext uri="{FF2B5EF4-FFF2-40B4-BE49-F238E27FC236}">
              <a16:creationId xmlns:a16="http://schemas.microsoft.com/office/drawing/2014/main" id="{C5ED901D-A20B-DA62-3D49-A86D8E21C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29A2FA3-57B3-1E2F-6044-A84C313396C4}"/>
              </a:ext>
            </a:extLst>
          </p:cNvPr>
          <p:cNvSpPr txBox="1">
            <a:spLocks/>
          </p:cNvSpPr>
          <p:nvPr/>
        </p:nvSpPr>
        <p:spPr>
          <a:xfrm>
            <a:off x="300626" y="1158819"/>
            <a:ext cx="8718114" cy="4419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for potential racial tensions and issues that may arise in the group.</a:t>
            </a:r>
          </a:p>
          <a:p>
            <a:pPr marL="0" indent="0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Inclusion of Multiple Members: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that no racial group is represented by only one member (avoid "solo" members).</a:t>
            </a:r>
          </a:p>
          <a:p>
            <a:pPr marL="0" indent="0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Culturally Appropriate Leadership Style: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 your leadership style to fit the cultural norms of the group.</a:t>
            </a:r>
          </a:p>
          <a:p>
            <a:pPr marL="0" indent="0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Respect and Equality: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 all members with respect and equality in both verbal and nonverbal communication.</a:t>
            </a:r>
          </a:p>
          <a:p>
            <a:pPr marL="0" indent="0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Goals: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the group formulate goals that address the concerns and needs of all members.</a:t>
            </a:r>
          </a:p>
          <a:p>
            <a:pPr marL="0" indent="0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Discussion of Race: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 racial and ethnic differences in initial sessions and encourage open discussion of race-related issues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Setting ground rules for respectful dialogue about race and ethnicity).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CE2F566-A286-A75E-6E78-D59F59702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097055" cy="439733"/>
          </a:xfrm>
        </p:spPr>
        <p:txBody>
          <a:bodyPr/>
          <a:lstStyle/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Anticipate</a:t>
            </a:r>
            <a:endParaRPr lang="en-PK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48151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>
          <a:extLst>
            <a:ext uri="{FF2B5EF4-FFF2-40B4-BE49-F238E27FC236}">
              <a16:creationId xmlns:a16="http://schemas.microsoft.com/office/drawing/2014/main" id="{B8AA3F03-0478-2C66-53A1-A8793D11C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9BAF0-B29B-8762-8885-7A34CB9BC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73252" cy="439733"/>
          </a:xfrm>
        </p:spPr>
        <p:txBody>
          <a:bodyPr/>
          <a:lstStyle/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Problem Solving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A784C-B48F-3EEF-85F3-1BF5DB2D1357}"/>
              </a:ext>
            </a:extLst>
          </p:cNvPr>
          <p:cNvSpPr txBox="1">
            <a:spLocks/>
          </p:cNvSpPr>
          <p:nvPr/>
        </p:nvSpPr>
        <p:spPr>
          <a:xfrm>
            <a:off x="228600" y="1005274"/>
            <a:ext cx="830162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indent="0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and resolve racial issues that arise in the group through effective problem-solving techniques.</a:t>
            </a:r>
          </a:p>
          <a:p>
            <a:pPr marL="0" indent="0" algn="just"/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Problem-Solving Approach: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structured problem-solving process to address racial tensions. Identify the issue, generate alternatives, evaluate options, and implement the best solution.</a:t>
            </a:r>
          </a:p>
          <a:p>
            <a:pPr marL="0" indent="0" algn="just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If a racial conflict arises, facilitate a discussion to identify the root cause and work collaboratively to find a resolution.</a:t>
            </a:r>
          </a:p>
          <a:p>
            <a:pPr marL="0" indent="0" algn="just"/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Conflict Resolution Techniques: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techniques such as role reversal, empathy, and mediation to resolve conflicts.</a:t>
            </a:r>
          </a:p>
        </p:txBody>
      </p:sp>
    </p:spTree>
    <p:extLst>
      <p:ext uri="{BB962C8B-B14F-4D97-AF65-F5344CB8AC3E}">
        <p14:creationId xmlns:p14="http://schemas.microsoft.com/office/powerpoint/2010/main" val="21236342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>
          <a:extLst>
            <a:ext uri="{FF2B5EF4-FFF2-40B4-BE49-F238E27FC236}">
              <a16:creationId xmlns:a16="http://schemas.microsoft.com/office/drawing/2014/main" id="{FF5D9B08-BD18-01E5-9AC1-4A2C2C24D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6BA25-D277-685A-863B-22F7F2DC5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73252" cy="439733"/>
          </a:xfrm>
        </p:spPr>
        <p:txBody>
          <a:bodyPr/>
          <a:lstStyle/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Problem Solving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F4F16-232D-00F9-6044-7E2C893F419B}"/>
              </a:ext>
            </a:extLst>
          </p:cNvPr>
          <p:cNvSpPr txBox="1">
            <a:spLocks/>
          </p:cNvSpPr>
          <p:nvPr/>
        </p:nvSpPr>
        <p:spPr>
          <a:xfrm>
            <a:off x="228600" y="1005274"/>
            <a:ext cx="830162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indent="0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Culturally Appropriate Interventions: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that interventions and goals are acceptable and relevant to all racial and ethnic groups in the group.</a:t>
            </a:r>
          </a:p>
          <a:p>
            <a:pPr marL="0" indent="0" algn="just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Using culturally specific examples or metaphors to explain concepts.</a:t>
            </a:r>
          </a:p>
          <a:p>
            <a:pPr marL="0" indent="0" algn="just"/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 for Engagement: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 rules for respectful communication during problem-solving (e.g., no name-calling, no interrupting).</a:t>
            </a:r>
          </a:p>
          <a:p>
            <a:pPr marL="0" indent="0" algn="just"/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Advocacy: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prepared to advocate for group members outside the group if they face discrimination or oppression in the community.</a:t>
            </a:r>
          </a:p>
        </p:txBody>
      </p:sp>
    </p:spTree>
    <p:extLst>
      <p:ext uri="{BB962C8B-B14F-4D97-AF65-F5344CB8AC3E}">
        <p14:creationId xmlns:p14="http://schemas.microsoft.com/office/powerpoint/2010/main" val="17923740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>
          <a:extLst>
            <a:ext uri="{FF2B5EF4-FFF2-40B4-BE49-F238E27FC236}">
              <a16:creationId xmlns:a16="http://schemas.microsoft.com/office/drawing/2014/main" id="{4B219CC0-D4AC-0ED4-2ADE-4BF072994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69">
            <a:extLst>
              <a:ext uri="{FF2B5EF4-FFF2-40B4-BE49-F238E27FC236}">
                <a16:creationId xmlns:a16="http://schemas.microsoft.com/office/drawing/2014/main" id="{8E6BEB66-8806-AFF2-82AB-6BF4B2803D18}"/>
              </a:ext>
            </a:extLst>
          </p:cNvPr>
          <p:cNvSpPr/>
          <p:nvPr/>
        </p:nvSpPr>
        <p:spPr>
          <a:xfrm rot="-529266">
            <a:off x="42313" y="3813823"/>
            <a:ext cx="1355222" cy="1174080"/>
          </a:xfrm>
          <a:custGeom>
            <a:avLst/>
            <a:gdLst/>
            <a:ahLst/>
            <a:cxnLst/>
            <a:rect l="l" t="t" r="r" b="b"/>
            <a:pathLst>
              <a:path w="8102" h="10617" extrusionOk="0">
                <a:moveTo>
                  <a:pt x="4051" y="625"/>
                </a:moveTo>
                <a:cubicBezTo>
                  <a:pt x="4462" y="625"/>
                  <a:pt x="4801" y="893"/>
                  <a:pt x="4925" y="1249"/>
                </a:cubicBezTo>
                <a:lnTo>
                  <a:pt x="3177" y="1249"/>
                </a:lnTo>
                <a:cubicBezTo>
                  <a:pt x="3302" y="893"/>
                  <a:pt x="3641" y="625"/>
                  <a:pt x="4051" y="625"/>
                </a:cubicBezTo>
                <a:close/>
                <a:moveTo>
                  <a:pt x="4979" y="1874"/>
                </a:moveTo>
                <a:lnTo>
                  <a:pt x="4979" y="2516"/>
                </a:lnTo>
                <a:lnTo>
                  <a:pt x="3123" y="2516"/>
                </a:lnTo>
                <a:lnTo>
                  <a:pt x="3123" y="1874"/>
                </a:lnTo>
                <a:close/>
                <a:moveTo>
                  <a:pt x="2535" y="3159"/>
                </a:moveTo>
                <a:lnTo>
                  <a:pt x="2535" y="3159"/>
                </a:lnTo>
                <a:cubicBezTo>
                  <a:pt x="2481" y="3230"/>
                  <a:pt x="2428" y="3301"/>
                  <a:pt x="2374" y="3391"/>
                </a:cubicBezTo>
                <a:cubicBezTo>
                  <a:pt x="2053" y="3908"/>
                  <a:pt x="1874" y="4586"/>
                  <a:pt x="1874" y="5318"/>
                </a:cubicBezTo>
                <a:cubicBezTo>
                  <a:pt x="1874" y="6031"/>
                  <a:pt x="2053" y="6727"/>
                  <a:pt x="2374" y="7245"/>
                </a:cubicBezTo>
                <a:cubicBezTo>
                  <a:pt x="2428" y="7316"/>
                  <a:pt x="2481" y="7405"/>
                  <a:pt x="2535" y="7477"/>
                </a:cubicBezTo>
                <a:cubicBezTo>
                  <a:pt x="1464" y="7352"/>
                  <a:pt x="625" y="6424"/>
                  <a:pt x="625" y="5318"/>
                </a:cubicBezTo>
                <a:cubicBezTo>
                  <a:pt x="625" y="4194"/>
                  <a:pt x="1464" y="3284"/>
                  <a:pt x="2535" y="3159"/>
                </a:cubicBezTo>
                <a:close/>
                <a:moveTo>
                  <a:pt x="5550" y="3159"/>
                </a:moveTo>
                <a:lnTo>
                  <a:pt x="5550" y="3159"/>
                </a:lnTo>
                <a:cubicBezTo>
                  <a:pt x="6638" y="3284"/>
                  <a:pt x="7477" y="4194"/>
                  <a:pt x="7477" y="5318"/>
                </a:cubicBezTo>
                <a:cubicBezTo>
                  <a:pt x="7477" y="6424"/>
                  <a:pt x="6638" y="7352"/>
                  <a:pt x="5550" y="7477"/>
                </a:cubicBezTo>
                <a:cubicBezTo>
                  <a:pt x="5621" y="7405"/>
                  <a:pt x="5675" y="7316"/>
                  <a:pt x="5728" y="7245"/>
                </a:cubicBezTo>
                <a:cubicBezTo>
                  <a:pt x="6050" y="6727"/>
                  <a:pt x="6228" y="6031"/>
                  <a:pt x="6228" y="5318"/>
                </a:cubicBezTo>
                <a:cubicBezTo>
                  <a:pt x="6228" y="4586"/>
                  <a:pt x="6050" y="3908"/>
                  <a:pt x="5728" y="3391"/>
                </a:cubicBezTo>
                <a:cubicBezTo>
                  <a:pt x="5675" y="3301"/>
                  <a:pt x="5621" y="3230"/>
                  <a:pt x="5550" y="3159"/>
                </a:cubicBezTo>
                <a:close/>
                <a:moveTo>
                  <a:pt x="3730" y="3141"/>
                </a:moveTo>
                <a:lnTo>
                  <a:pt x="3730" y="7494"/>
                </a:lnTo>
                <a:cubicBezTo>
                  <a:pt x="3070" y="7494"/>
                  <a:pt x="2499" y="6495"/>
                  <a:pt x="2499" y="5318"/>
                </a:cubicBezTo>
                <a:cubicBezTo>
                  <a:pt x="2499" y="4140"/>
                  <a:pt x="3070" y="3141"/>
                  <a:pt x="3730" y="3141"/>
                </a:cubicBezTo>
                <a:close/>
                <a:moveTo>
                  <a:pt x="4355" y="3141"/>
                </a:moveTo>
                <a:cubicBezTo>
                  <a:pt x="5033" y="3141"/>
                  <a:pt x="5603" y="4140"/>
                  <a:pt x="5603" y="5318"/>
                </a:cubicBezTo>
                <a:cubicBezTo>
                  <a:pt x="5603" y="6495"/>
                  <a:pt x="5033" y="7494"/>
                  <a:pt x="4355" y="7494"/>
                </a:cubicBezTo>
                <a:lnTo>
                  <a:pt x="4355" y="3141"/>
                </a:lnTo>
                <a:close/>
                <a:moveTo>
                  <a:pt x="4979" y="8119"/>
                </a:moveTo>
                <a:lnTo>
                  <a:pt x="4979" y="8743"/>
                </a:lnTo>
                <a:lnTo>
                  <a:pt x="3123" y="8743"/>
                </a:lnTo>
                <a:lnTo>
                  <a:pt x="3123" y="8119"/>
                </a:lnTo>
                <a:close/>
                <a:moveTo>
                  <a:pt x="4072" y="0"/>
                </a:moveTo>
                <a:cubicBezTo>
                  <a:pt x="3212" y="0"/>
                  <a:pt x="2499" y="690"/>
                  <a:pt x="2499" y="1553"/>
                </a:cubicBezTo>
                <a:lnTo>
                  <a:pt x="2499" y="2534"/>
                </a:lnTo>
                <a:cubicBezTo>
                  <a:pt x="1089" y="2695"/>
                  <a:pt x="1" y="3872"/>
                  <a:pt x="1" y="5318"/>
                </a:cubicBezTo>
                <a:cubicBezTo>
                  <a:pt x="1" y="6745"/>
                  <a:pt x="1089" y="7940"/>
                  <a:pt x="2499" y="8101"/>
                </a:cubicBezTo>
                <a:lnTo>
                  <a:pt x="2499" y="10617"/>
                </a:lnTo>
                <a:lnTo>
                  <a:pt x="3123" y="10617"/>
                </a:lnTo>
                <a:lnTo>
                  <a:pt x="3123" y="9350"/>
                </a:lnTo>
                <a:lnTo>
                  <a:pt x="3730" y="9350"/>
                </a:lnTo>
                <a:lnTo>
                  <a:pt x="3730" y="10617"/>
                </a:lnTo>
                <a:lnTo>
                  <a:pt x="4355" y="10617"/>
                </a:lnTo>
                <a:lnTo>
                  <a:pt x="4355" y="9350"/>
                </a:lnTo>
                <a:lnTo>
                  <a:pt x="4979" y="9350"/>
                </a:lnTo>
                <a:lnTo>
                  <a:pt x="4979" y="10617"/>
                </a:lnTo>
                <a:lnTo>
                  <a:pt x="5603" y="10617"/>
                </a:lnTo>
                <a:lnTo>
                  <a:pt x="5603" y="8101"/>
                </a:lnTo>
                <a:cubicBezTo>
                  <a:pt x="6995" y="7940"/>
                  <a:pt x="8101" y="6745"/>
                  <a:pt x="8101" y="5318"/>
                </a:cubicBezTo>
                <a:cubicBezTo>
                  <a:pt x="8101" y="3872"/>
                  <a:pt x="6995" y="2695"/>
                  <a:pt x="5603" y="2534"/>
                </a:cubicBezTo>
                <a:lnTo>
                  <a:pt x="5603" y="1589"/>
                </a:lnTo>
                <a:cubicBezTo>
                  <a:pt x="5603" y="732"/>
                  <a:pt x="4943" y="36"/>
                  <a:pt x="4105" y="1"/>
                </a:cubicBezTo>
                <a:cubicBezTo>
                  <a:pt x="4094" y="0"/>
                  <a:pt x="4083" y="0"/>
                  <a:pt x="407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2C917E1-3A53-EAEF-E69A-A36E6E012806}"/>
              </a:ext>
            </a:extLst>
          </p:cNvPr>
          <p:cNvSpPr txBox="1">
            <a:spLocks/>
          </p:cNvSpPr>
          <p:nvPr/>
        </p:nvSpPr>
        <p:spPr>
          <a:xfrm>
            <a:off x="1076421" y="1685477"/>
            <a:ext cx="7510923" cy="3399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inequalities refer to the unequal distribution of material and nonmaterial social goods.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Inequalities affect life chances, living conditions, and opportunities for individuals and groups.</a:t>
            </a: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Context: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Women and people with disabilities face significant discrimination.</a:t>
            </a: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Pakistan’s Context: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inequalities are pervasive, affecting development opportunities.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3276FEAC-E2AD-8890-9B10-EB53BCA01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89" y="365125"/>
            <a:ext cx="8042753" cy="1320352"/>
          </a:xfrm>
        </p:spPr>
        <p:txBody>
          <a:bodyPr/>
          <a:lstStyle/>
          <a:p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 Inequality</a:t>
            </a:r>
            <a:endParaRPr lang="en-PK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09217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>
          <a:extLst>
            <a:ext uri="{FF2B5EF4-FFF2-40B4-BE49-F238E27FC236}">
              <a16:creationId xmlns:a16="http://schemas.microsoft.com/office/drawing/2014/main" id="{525116A1-9837-BCCF-4D7A-408240170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FDE0222-B4CD-CB83-23A8-3D0689B824B9}"/>
              </a:ext>
            </a:extLst>
          </p:cNvPr>
          <p:cNvSpPr txBox="1">
            <a:spLocks/>
          </p:cNvSpPr>
          <p:nvPr/>
        </p:nvSpPr>
        <p:spPr>
          <a:xfrm>
            <a:off x="781219" y="1518329"/>
            <a:ext cx="7510923" cy="3399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in Some Areas: SDG 1 (No Poverty), SDG 5 (Gender Equality), SDG 17 (Partnerships).</a:t>
            </a: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Other Areas:</a:t>
            </a:r>
          </a:p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4 (Quality Education): 9.2 million children out of school; literacy rate stagnant at 60%.</a:t>
            </a:r>
          </a:p>
          <a:p>
            <a:pPr marL="469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8 (Decent Work): High income inequality; declining real GDP per capita.</a:t>
            </a:r>
          </a:p>
          <a:p>
            <a:pPr marL="469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13 (Climate Action): Minimal contribution; rising greenhouse gas emissions.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CE12345-0AFB-8ABA-447F-761233D51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89" y="365125"/>
            <a:ext cx="8042753" cy="1320352"/>
          </a:xfrm>
        </p:spPr>
        <p:txBody>
          <a:bodyPr/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Pakistan’s Performance on Sustainable Development Goals (SDGs)</a:t>
            </a:r>
          </a:p>
        </p:txBody>
      </p:sp>
    </p:spTree>
    <p:extLst>
      <p:ext uri="{BB962C8B-B14F-4D97-AF65-F5344CB8AC3E}">
        <p14:creationId xmlns:p14="http://schemas.microsoft.com/office/powerpoint/2010/main" val="29203925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>
          <a:extLst>
            <a:ext uri="{FF2B5EF4-FFF2-40B4-BE49-F238E27FC236}">
              <a16:creationId xmlns:a16="http://schemas.microsoft.com/office/drawing/2014/main" id="{6B7A1449-178B-1AB4-A296-0373D4EE0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C7CD806-35DD-02BE-A383-825ABA9F1399}"/>
              </a:ext>
            </a:extLst>
          </p:cNvPr>
          <p:cNvSpPr txBox="1">
            <a:spLocks/>
          </p:cNvSpPr>
          <p:nvPr/>
        </p:nvSpPr>
        <p:spPr>
          <a:xfrm>
            <a:off x="781219" y="1378981"/>
            <a:ext cx="7510923" cy="3399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46990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Feminization of Poverty: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Women bear the brunt of poverty more than men.</a:t>
            </a:r>
          </a:p>
          <a:p>
            <a:pPr marL="469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Women’s labor force participation is 17%, compared to 71% for men.</a:t>
            </a:r>
          </a:p>
          <a:p>
            <a:pPr marL="469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80% of women in agriculture are unpaid workers.</a:t>
            </a:r>
          </a:p>
          <a:p>
            <a:pPr marL="469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 Ownership: Women own less than 3% of the land.</a:t>
            </a:r>
          </a:p>
          <a:p>
            <a:pPr marL="469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Statistic:</a:t>
            </a:r>
          </a:p>
          <a:p>
            <a:pPr marL="469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“Pakistan ranks last in women’s workforce participation among SAARC countries.”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DDD8389-F4EE-4187-5F13-98011CB02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89" y="365125"/>
            <a:ext cx="8042753" cy="765585"/>
          </a:xfrm>
        </p:spPr>
        <p:txBody>
          <a:bodyPr/>
          <a:lstStyle/>
          <a:p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 Inequalities in Pakistan</a:t>
            </a:r>
            <a:endParaRPr lang="en-PK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1365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>
          <a:extLst>
            <a:ext uri="{FF2B5EF4-FFF2-40B4-BE49-F238E27FC236}">
              <a16:creationId xmlns:a16="http://schemas.microsoft.com/office/drawing/2014/main" id="{23EEC76B-2D94-5FF9-4692-5EC6CA069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21CFB45-61D3-06C1-1505-F052AD691580}"/>
              </a:ext>
            </a:extLst>
          </p:cNvPr>
          <p:cNvSpPr txBox="1">
            <a:spLocks/>
          </p:cNvSpPr>
          <p:nvPr/>
        </p:nvSpPr>
        <p:spPr>
          <a:xfrm>
            <a:off x="781219" y="1378981"/>
            <a:ext cx="7510923" cy="3399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46990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Inequality: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richest 18 million consume 1.5 times more than the poorest 75 million.</a:t>
            </a:r>
          </a:p>
          <a:p>
            <a:pPr marL="46990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Elite Capture: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direct taxation and a regressive tax system burden the poor.</a:t>
            </a:r>
          </a:p>
          <a:p>
            <a:pPr marL="46990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and marginalized groups struggle to invest in education and healthcare.</a:t>
            </a:r>
          </a:p>
          <a:p>
            <a:pPr marL="469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Extreme inequality stifles social and economic mobility, deepening poverty and corruption.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831C3E9-6C2B-1903-7B46-0572AD811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89" y="365125"/>
            <a:ext cx="8815953" cy="765585"/>
          </a:xfrm>
        </p:spPr>
        <p:txBody>
          <a:bodyPr/>
          <a:lstStyle/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Economic Inequality &amp; Elite Capture</a:t>
            </a:r>
          </a:p>
        </p:txBody>
      </p:sp>
    </p:spTree>
    <p:extLst>
      <p:ext uri="{BB962C8B-B14F-4D97-AF65-F5344CB8AC3E}">
        <p14:creationId xmlns:p14="http://schemas.microsoft.com/office/powerpoint/2010/main" val="29805119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>
          <a:extLst>
            <a:ext uri="{FF2B5EF4-FFF2-40B4-BE49-F238E27FC236}">
              <a16:creationId xmlns:a16="http://schemas.microsoft.com/office/drawing/2014/main" id="{368D04B2-67D4-F542-6A34-83027367F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C864B13-4E9A-2207-77E6-56F5256E3CC8}"/>
              </a:ext>
            </a:extLst>
          </p:cNvPr>
          <p:cNvSpPr txBox="1">
            <a:spLocks/>
          </p:cNvSpPr>
          <p:nvPr/>
        </p:nvSpPr>
        <p:spPr>
          <a:xfrm>
            <a:off x="781219" y="1378981"/>
            <a:ext cx="7510923" cy="3399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469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Out-of-School Children: Pakistan has the second-highest number globally.</a:t>
            </a:r>
          </a:p>
          <a:p>
            <a:pPr marL="46990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Disparity: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86 girls attend school for every 100 boys.</a:t>
            </a:r>
          </a:p>
          <a:p>
            <a:pPr marL="46990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Barriers: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Poverty and social pressures prevent girls from accessing education.</a:t>
            </a:r>
          </a:p>
          <a:p>
            <a:pPr marL="469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Pakistan’s constitution promises free and compulsory education up to age 16, yet millions remain out of school.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EB7EDD94-5A88-91A0-D236-E455A899E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89" y="365125"/>
            <a:ext cx="8815953" cy="765585"/>
          </a:xfrm>
        </p:spPr>
        <p:txBody>
          <a:bodyPr/>
          <a:lstStyle/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 and Social Inequality</a:t>
            </a:r>
          </a:p>
        </p:txBody>
      </p:sp>
    </p:spTree>
    <p:extLst>
      <p:ext uri="{BB962C8B-B14F-4D97-AF65-F5344CB8AC3E}">
        <p14:creationId xmlns:p14="http://schemas.microsoft.com/office/powerpoint/2010/main" val="42799597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>
          <a:extLst>
            <a:ext uri="{FF2B5EF4-FFF2-40B4-BE49-F238E27FC236}">
              <a16:creationId xmlns:a16="http://schemas.microsoft.com/office/drawing/2014/main" id="{3A30D413-F544-9AC0-F052-3EA40F954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5B7684D-99CC-016E-6DF7-F8C0C4508D04}"/>
              </a:ext>
            </a:extLst>
          </p:cNvPr>
          <p:cNvSpPr txBox="1">
            <a:spLocks/>
          </p:cNvSpPr>
          <p:nvPr/>
        </p:nvSpPr>
        <p:spPr>
          <a:xfrm>
            <a:off x="781219" y="1378981"/>
            <a:ext cx="7510923" cy="3399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46990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Threats to Democracy: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Inequality undermines democratic systems.</a:t>
            </a:r>
          </a:p>
          <a:p>
            <a:pPr marL="46990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Poverty Trap: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Inequality perpetuates poverty and limits development.</a:t>
            </a:r>
          </a:p>
          <a:p>
            <a:pPr marL="46990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and Environmental Degradation: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Inequality leads to crime, environmental harm, and reduced well-being.</a:t>
            </a:r>
          </a:p>
          <a:p>
            <a:pPr marL="469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 cannot be achieved if people are excluded from the hope and chance for a better life.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2A1E031-F1B2-D7DE-5586-5CE6B565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89" y="365125"/>
            <a:ext cx="8815953" cy="765585"/>
          </a:xfrm>
        </p:spPr>
        <p:txBody>
          <a:bodyPr/>
          <a:lstStyle/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Consequences of Social Inequality</a:t>
            </a:r>
          </a:p>
        </p:txBody>
      </p:sp>
    </p:spTree>
    <p:extLst>
      <p:ext uri="{BB962C8B-B14F-4D97-AF65-F5344CB8AC3E}">
        <p14:creationId xmlns:p14="http://schemas.microsoft.com/office/powerpoint/2010/main" val="8250400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>
          <a:extLst>
            <a:ext uri="{FF2B5EF4-FFF2-40B4-BE49-F238E27FC236}">
              <a16:creationId xmlns:a16="http://schemas.microsoft.com/office/drawing/2014/main" id="{CBD7B76A-0FF0-CD0F-7FE3-E99D3B14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5DBD093-3A9D-6E44-F8CD-E3B8839D511B}"/>
              </a:ext>
            </a:extLst>
          </p:cNvPr>
          <p:cNvSpPr txBox="1">
            <a:spLocks/>
          </p:cNvSpPr>
          <p:nvPr/>
        </p:nvSpPr>
        <p:spPr>
          <a:xfrm>
            <a:off x="249389" y="1378981"/>
            <a:ext cx="8042753" cy="3399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469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Action: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spending on Public Sector Development Programs (PSDP) and social safety nets.</a:t>
            </a:r>
          </a:p>
          <a:p>
            <a:pPr marL="469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programs like Benazir Income Support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(BISP) to reach marginalized groups.</a:t>
            </a:r>
          </a:p>
          <a:p>
            <a:pPr marL="469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Asset Building: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tangible assets (loans, land reforms) and intangible assets (education, vocational training).</a:t>
            </a:r>
          </a:p>
          <a:p>
            <a:pPr marL="469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Security: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minimum wage and employment guarantee schemes.</a:t>
            </a:r>
          </a:p>
          <a:p>
            <a:pPr marL="469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Transformative Change: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Eradicate extreme poverty and hunger. </a:t>
            </a:r>
          </a:p>
          <a:p>
            <a:pPr marL="469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investments in education, healthcare, and social protection.</a:t>
            </a:r>
          </a:p>
          <a:p>
            <a:pPr marL="469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Political, economic, and social policies must focus on disadvantaged and vulnerable communities.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7386527-C6E2-D4EC-F5C3-A548514EB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89" y="365125"/>
            <a:ext cx="8815953" cy="765585"/>
          </a:xfrm>
        </p:spPr>
        <p:txBody>
          <a:bodyPr/>
          <a:lstStyle/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Solutions to Address Social Inequality</a:t>
            </a:r>
          </a:p>
        </p:txBody>
      </p:sp>
    </p:spTree>
    <p:extLst>
      <p:ext uri="{BB962C8B-B14F-4D97-AF65-F5344CB8AC3E}">
        <p14:creationId xmlns:p14="http://schemas.microsoft.com/office/powerpoint/2010/main" val="10303687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>
          <a:extLst>
            <a:ext uri="{FF2B5EF4-FFF2-40B4-BE49-F238E27FC236}">
              <a16:creationId xmlns:a16="http://schemas.microsoft.com/office/drawing/2014/main" id="{710DB366-D520-0D16-1EA8-7A374428C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8A4528B-44CF-B504-6DD8-0C1AC2A0E26E}"/>
              </a:ext>
            </a:extLst>
          </p:cNvPr>
          <p:cNvSpPr txBox="1">
            <a:spLocks/>
          </p:cNvSpPr>
          <p:nvPr/>
        </p:nvSpPr>
        <p:spPr>
          <a:xfrm>
            <a:off x="249389" y="1378981"/>
            <a:ext cx="8042753" cy="3399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46990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Tailored Solutions: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social inequalities with customized, long-term strategies.</a:t>
            </a:r>
          </a:p>
          <a:p>
            <a:pPr marL="46990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Inclusive Development: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no one is left behind in the pursuit of sustainable development.</a:t>
            </a:r>
          </a:p>
          <a:p>
            <a:pPr marL="46990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Governments, NGOs, and civil society must work together to create equitable solutions.</a:t>
            </a:r>
          </a:p>
          <a:p>
            <a:pPr marL="469900" indent="-342900" algn="just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Pakistan cannot afford to delay its development opportunities due to social divides.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EDBA6BE-32DE-FAD1-E239-526A0E934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89" y="365125"/>
            <a:ext cx="8815953" cy="765585"/>
          </a:xfrm>
        </p:spPr>
        <p:txBody>
          <a:bodyPr/>
          <a:lstStyle/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Solutions to Address Social Inequality</a:t>
            </a:r>
          </a:p>
        </p:txBody>
      </p:sp>
    </p:spTree>
    <p:extLst>
      <p:ext uri="{BB962C8B-B14F-4D97-AF65-F5344CB8AC3E}">
        <p14:creationId xmlns:p14="http://schemas.microsoft.com/office/powerpoint/2010/main" val="23413584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>
          <a:extLst>
            <a:ext uri="{FF2B5EF4-FFF2-40B4-BE49-F238E27FC236}">
              <a16:creationId xmlns:a16="http://schemas.microsoft.com/office/drawing/2014/main" id="{A614E24A-3F7D-6BBE-C8BB-CBA1FCD1A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D3214C1-84DB-591E-2504-1788B9AEC0FC}"/>
              </a:ext>
            </a:extLst>
          </p:cNvPr>
          <p:cNvSpPr txBox="1">
            <a:spLocks/>
          </p:cNvSpPr>
          <p:nvPr/>
        </p:nvSpPr>
        <p:spPr>
          <a:xfrm>
            <a:off x="249389" y="1378981"/>
            <a:ext cx="8042753" cy="3399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469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workers must understand and respect diversity.</a:t>
            </a:r>
          </a:p>
          <a:p>
            <a:pPr marL="469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Empowerment and strengths-based approaches are crucial.</a:t>
            </a:r>
          </a:p>
          <a:p>
            <a:pPr marL="469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workers must practice cultural humility and sensitivity to make a meaningful impact.</a:t>
            </a:r>
          </a:p>
          <a:p>
            <a:pPr marL="469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inequalities in Pakistan are multifaceted, affecting gender, education, and economic opportunities.</a:t>
            </a:r>
          </a:p>
          <a:p>
            <a:pPr marL="469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Addressing these inequalities is crucial for sustainable development and poverty reduction.</a:t>
            </a:r>
          </a:p>
          <a:p>
            <a:pPr marL="469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efforts and targeted policies are needed to create a more equitable society.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8F4E4CD-A943-9E24-07ED-33FC0B71B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89" y="365125"/>
            <a:ext cx="8815953" cy="765585"/>
          </a:xfrm>
        </p:spPr>
        <p:txBody>
          <a:bodyPr/>
          <a:lstStyle/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40242344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Google Shape;1845;p119"/>
          <p:cNvSpPr txBox="1">
            <a:spLocks noGrp="1"/>
          </p:cNvSpPr>
          <p:nvPr>
            <p:ph type="title"/>
          </p:nvPr>
        </p:nvSpPr>
        <p:spPr>
          <a:xfrm flipH="1">
            <a:off x="719925" y="437699"/>
            <a:ext cx="7704000" cy="422198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inimalist Korean Aesthetic Pitch Deck by Slidesgo">
  <a:themeElements>
    <a:clrScheme name="Simple Light">
      <a:dk1>
        <a:srgbClr val="1E1E1E"/>
      </a:dk1>
      <a:lt1>
        <a:srgbClr val="664B34"/>
      </a:lt1>
      <a:dk2>
        <a:srgbClr val="887C62"/>
      </a:dk2>
      <a:lt2>
        <a:srgbClr val="D4CBBB"/>
      </a:lt2>
      <a:accent1>
        <a:srgbClr val="E7E2D6"/>
      </a:accent1>
      <a:accent2>
        <a:srgbClr val="F3F3F3"/>
      </a:accent2>
      <a:accent3>
        <a:srgbClr val="E2B0A6"/>
      </a:accent3>
      <a:accent4>
        <a:srgbClr val="FFFFFF"/>
      </a:accent4>
      <a:accent5>
        <a:srgbClr val="FFFFFF"/>
      </a:accent5>
      <a:accent6>
        <a:srgbClr val="FFFFFF"/>
      </a:accent6>
      <a:hlink>
        <a:srgbClr val="1E1E1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rganic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1635</TotalTime>
  <Words>2597</Words>
  <Application>Microsoft Office PowerPoint</Application>
  <PresentationFormat>On-screen Show (16:9)</PresentationFormat>
  <Paragraphs>235</Paragraphs>
  <Slides>33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Kulim Park SemiBold</vt:lpstr>
      <vt:lpstr>Kulim Park</vt:lpstr>
      <vt:lpstr>Manrope</vt:lpstr>
      <vt:lpstr>Arial</vt:lpstr>
      <vt:lpstr>Garamond</vt:lpstr>
      <vt:lpstr>ADLaM Display</vt:lpstr>
      <vt:lpstr>Nunito Light</vt:lpstr>
      <vt:lpstr>Times New Roman</vt:lpstr>
      <vt:lpstr>Minimalist Korean Aesthetic Pitch Deck by Slidesgo</vt:lpstr>
      <vt:lpstr>Organic</vt:lpstr>
      <vt:lpstr>PowerPoint Presentation</vt:lpstr>
      <vt:lpstr>Understanding Diversity &amp; Social Inequality</vt:lpstr>
      <vt:lpstr>Key Terms</vt:lpstr>
      <vt:lpstr>Types of Prejudice and Discrimination-Merton’s Four Types</vt:lpstr>
      <vt:lpstr>De Jure vs. De Facto Discrimination</vt:lpstr>
      <vt:lpstr>Stereotypes</vt:lpstr>
      <vt:lpstr>Unconscious Racism</vt:lpstr>
      <vt:lpstr>Knowledge about diverse groups</vt:lpstr>
      <vt:lpstr>Ethnic Sensitive Practice</vt:lpstr>
      <vt:lpstr>Empowerment Perspective</vt:lpstr>
      <vt:lpstr>PowerPoint Presentation</vt:lpstr>
      <vt:lpstr>Strength Perspective</vt:lpstr>
      <vt:lpstr>Culturally Competent Practice</vt:lpstr>
      <vt:lpstr>C. Recognize Ethnocentricity</vt:lpstr>
      <vt:lpstr>G. Engage in ongoing education to improve cultural competence.</vt:lpstr>
      <vt:lpstr>PowerPoint Presentation</vt:lpstr>
      <vt:lpstr>PowerPoint Presentation</vt:lpstr>
      <vt:lpstr>Three Factors of Cultural Humility</vt:lpstr>
      <vt:lpstr>RAP Framework</vt:lpstr>
      <vt:lpstr>1. Recognize</vt:lpstr>
      <vt:lpstr>2. Anticipate</vt:lpstr>
      <vt:lpstr>3. Problem Solving</vt:lpstr>
      <vt:lpstr>3. Problem Solving</vt:lpstr>
      <vt:lpstr>Social Inequality</vt:lpstr>
      <vt:lpstr>Pakistan’s Performance on Sustainable Development Goals (SDGs)</vt:lpstr>
      <vt:lpstr>Social Inequalities in Pakistan</vt:lpstr>
      <vt:lpstr>Economic Inequality &amp; Elite Capture</vt:lpstr>
      <vt:lpstr>Education and Social Inequality</vt:lpstr>
      <vt:lpstr>Consequences of Social Inequality</vt:lpstr>
      <vt:lpstr>Solutions to Address Social Inequality</vt:lpstr>
      <vt:lpstr>Solutions to Address Social Inequality</vt:lpstr>
      <vt:lpstr>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Tayyaba  Waseem</cp:lastModifiedBy>
  <cp:revision>19</cp:revision>
  <dcterms:modified xsi:type="dcterms:W3CDTF">2026-02-09T10:08:04Z</dcterms:modified>
</cp:coreProperties>
</file>